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Atkinson Hyperlegible Next"/>
      <p:regular r:id="rId201314"/>
    </p:embeddedFont>
    <p:embeddedFont>
      <p:font typeface="Atkinson Hyperlegible Next SemiBold"/>
      <p:regular r:id="rId201315"/>
    </p:embeddedFont>
    <p:embeddedFont>
      <p:font typeface="Atkinson Hyperlegible Next Bold"/>
      <p:regular r:id="rId201316"/>
    </p:embeddedFont>
    <p:embeddedFont>
      <p:font typeface="B612"/>
      <p:regular r:id="rId201317"/>
    </p:embeddedFont>
    <p:embeddedFont>
      <p:font typeface="B612 Bold"/>
      <p:regular r:id="rId201318"/>
    </p:embeddedFont>
    <p:embeddedFont>
      <p:font typeface="B612 Mono"/>
      <p:regular r:id="rId201319"/>
    </p:embeddedFont>
    <p:embeddedFont>
      <p:font typeface="B612 Mono Bold"/>
      <p:regular r:id="rId2013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review presents the AI Resume Screening System as an implemented DSA project. The focus is the working workflow, the algorithms behind it, and the value it creates for recruitment.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starts with a practical recruitment bottleneck: manual screening becomes slow and inconsistent as resume volume grows. The proposed solution uses DSA to compare, score, and rank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system from input to output. A job description provides the required skills, resumes are uploaded and converted to text, preprocessing prepares the data, DSA performs matching and scoring, and the final report presents the screening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technical slide. The data structures organize and retrieve the screening data. The algorithms then perform exact matching, multiple-pattern matching, fuzzy comparison, ranking, and duplicate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matching logic gives exact matches priority. When an exact term is absent, the system checks similarity and Edit Distance to recover a close skill. The result is classified, scored, and used for ranking. No unsupported accuracy percentage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emphasizes that the project is implemented, not only proposed. The workflow accepts job information and multiple resumes, processes PDF, DOCX, and TXT files, extracts and preprocesses text, applies DSA-based matching, and returns ranked candidates with matched and missing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is report-ready because it exposes the evidence behind the ranking: processed resumes, matched skills, close matches, missing skills, calculated scores, and the final screening report. Any validation should use actual screenshots or output examples, not fabricated graphs or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innovation comes from applying practical DSA techniques to a real workflow. Technical competence enables the system, while the hybrid matching, explainable output, automated ranking, and reduced repetition create the project’s practical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workflow creates value at three levels. Recruiters save time and receive structured rankings. Organizations gain a faster and more consistent comparison process. Candidates can understand which skills match the job requirements and which are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the technical work to the real-world problem. The system demonstrates DSA through matching, similarity calculation, and ranking, while future scope focuses on formats, extraction, ranking, scalability, and recruiter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7F8F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7F8F5"/>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2-1.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2-1.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2-1.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33387" y="1168400"/>
            <a:ext cx="5333867" cy="3810000"/>
          </a:xfrm>
          <a:prstGeom prst="rect">
            <a:avLst/>
          </a:prstGeom>
          <a:solidFill>
            <a:srgbClr val="F7F8F5"/>
          </a:solidFill>
          <a:ln w="6350">
            <a:solidFill>
              <a:srgbClr val="C2CCD5"/>
            </a:solidFill>
            <a:prstDash val="solid"/>
          </a:ln>
        </p:spPr>
      </p:sp>
      <p:sp>
        <p:nvSpPr>
          <p:cNvPr id="3" name="Text 1"/>
          <p:cNvSpPr/>
          <p:nvPr/>
        </p:nvSpPr>
        <p:spPr>
          <a:xfrm>
            <a:off x="895328" y="1482725"/>
            <a:ext cx="5219569" cy="159941"/>
          </a:xfrm>
          <a:prstGeom prst="rect">
            <a:avLst/>
          </a:prstGeom>
          <a:noFill/>
          <a:ln/>
        </p:spPr>
        <p:txBody>
          <a:bodyPr wrap="none" lIns="0" tIns="0" rIns="0" bIns="0" rtlCol="0" anchor="t"/>
          <a:lstStyle/>
          <a:p>
            <a:pPr algn="l" indent="0" marL="0">
              <a:lnSpc>
                <a:spcPct val="100000"/>
              </a:lnSpc>
              <a:buNone/>
            </a:pPr>
            <a:r>
              <a:rPr lang="en-US" sz="1050" spc="84" kern="100" dirty="0">
                <a:solidFill>
                  <a:srgbClr val="5B6570"/>
                </a:solidFill>
                <a:latin typeface="B612 Mono" pitchFamily="34" charset="0"/>
                <a:ea typeface="B612 Mono" pitchFamily="34" charset="-122"/>
                <a:cs typeface="B612 Mono" pitchFamily="34" charset="-120"/>
              </a:rPr>
              <a:t>DSA FINAL REVIEW · REVIEW 4</a:t>
            </a:r>
            <a:endParaRPr lang="en-US" sz="1050" dirty="0"/>
          </a:p>
        </p:txBody>
      </p:sp>
      <p:sp>
        <p:nvSpPr>
          <p:cNvPr id="4" name="Text 2"/>
          <p:cNvSpPr/>
          <p:nvPr/>
        </p:nvSpPr>
        <p:spPr>
          <a:xfrm>
            <a:off x="895328" y="1895539"/>
            <a:ext cx="4609985" cy="1061641"/>
          </a:xfrm>
          <a:prstGeom prst="rect">
            <a:avLst/>
          </a:prstGeom>
          <a:noFill/>
          <a:ln/>
        </p:spPr>
        <p:txBody>
          <a:bodyPr wrap="square" lIns="0" tIns="0" rIns="0" bIns="0" rtlCol="0" anchor="t">
            <a:normAutofit/>
          </a:bodyPr>
          <a:lstStyle/>
          <a:p>
            <a:pPr algn="l" indent="0" marL="0">
              <a:lnSpc>
                <a:spcPct val="92000"/>
              </a:lnSpc>
              <a:buNone/>
            </a:pPr>
            <a:r>
              <a:rPr lang="en-US" sz="3800" b="1" spc="-38" kern="100" dirty="0">
                <a:solidFill>
                  <a:srgbClr val="000000"/>
                </a:solidFill>
                <a:latin typeface="B612 Bold" pitchFamily="34" charset="0"/>
                <a:ea typeface="B612 Bold" pitchFamily="34" charset="-122"/>
                <a:cs typeface="B612 Bold" pitchFamily="34" charset="-120"/>
              </a:rPr>
              <a:t>AI Resume Screening System</a:t>
            </a:r>
            <a:endParaRPr lang="en-US" sz="3800" dirty="0"/>
          </a:p>
        </p:txBody>
      </p:sp>
      <p:sp>
        <p:nvSpPr>
          <p:cNvPr id="5" name="Text 3"/>
          <p:cNvSpPr/>
          <p:nvPr/>
        </p:nvSpPr>
        <p:spPr>
          <a:xfrm>
            <a:off x="895328" y="3094831"/>
            <a:ext cx="4609985" cy="662781"/>
          </a:xfrm>
          <a:prstGeom prst="rect">
            <a:avLst/>
          </a:prstGeom>
          <a:noFill/>
          <a:ln/>
        </p:spPr>
        <p:txBody>
          <a:bodyPr wrap="square" lIns="0" tIns="0" rIns="0" bIns="0" rtlCol="0" anchor="t"/>
          <a:lstStyle/>
          <a:p>
            <a:pPr algn="l" indent="0" marL="0">
              <a:lnSpc>
                <a:spcPct val="117000"/>
              </a:lnSpc>
              <a:spcAft>
                <a:spcPts val="1250"/>
              </a:spcAft>
              <a:buNone/>
            </a:pPr>
            <a:r>
              <a:rPr lang="en-US" sz="1400" dirty="0">
                <a:solidFill>
                  <a:srgbClr val="000000"/>
                </a:solidFill>
                <a:latin typeface="Atkinson Hyperlegible Next" pitchFamily="34" charset="0"/>
                <a:ea typeface="Atkinson Hyperlegible Next" pitchFamily="34" charset="-122"/>
                <a:cs typeface="Atkinson Hyperlegible Next" pitchFamily="34" charset="-120"/>
              </a:rPr>
              <a:t>B.Tech CSE · Data Structures &amp; Algorithms</a:t>
            </a:r>
            <a:endParaRPr lang="en-US" sz="1400" dirty="0"/>
          </a:p>
          <a:p>
            <a:pPr algn="l" indent="0" marL="0">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120"/>
              </a:rPr>
              <a:t>Aparna · Pavithra · Anusha · Snikitha · Ananya · Lathika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algn="l" indent="0" marL="0">
              <a:lnSpc>
                <a:spcPct val="100000"/>
              </a:lnSpc>
              <a:buNone/>
            </a:pPr>
            <a:r>
              <a:rPr lang="en-US" sz="1050" spc="84" kern="100" dirty="0">
                <a:solidFill>
                  <a:srgbClr val="5B6570"/>
                </a:solidFill>
                <a:latin typeface="B612 Mono" pitchFamily="34" charset="0"/>
                <a:ea typeface="B612 Mono" pitchFamily="34" charset="-122"/>
                <a:cs typeface="B612 Mono" pitchFamily="34" charset="-120"/>
              </a:rPr>
              <a:t>THE PROBLEM</a:t>
            </a:r>
            <a:endParaRPr lang="en-US" sz="1050" dirty="0"/>
          </a:p>
        </p:txBody>
      </p:sp>
      <p:sp>
        <p:nvSpPr>
          <p:cNvPr id="3" name="Text 1"/>
          <p:cNvSpPr/>
          <p:nvPr/>
        </p:nvSpPr>
        <p:spPr>
          <a:xfrm>
            <a:off x="609585" y="858440"/>
            <a:ext cx="10972526" cy="349250"/>
          </a:xfrm>
          <a:prstGeom prst="rect">
            <a:avLst/>
          </a:prstGeom>
          <a:noFill/>
          <a:ln/>
        </p:spPr>
        <p:txBody>
          <a:bodyPr wrap="none" lIns="0" tIns="0" rIns="0" bIns="0" rtlCol="0" anchor="t"/>
          <a:lstStyle/>
          <a:p>
            <a:pPr algn="l" indent="0" marL="0">
              <a:lnSpc>
                <a:spcPct val="92000"/>
              </a:lnSpc>
              <a:buNone/>
            </a:pPr>
            <a:r>
              <a:rPr lang="en-US" sz="2500" b="1" spc="-25" kern="100" dirty="0">
                <a:solidFill>
                  <a:srgbClr val="1A1F26"/>
                </a:solidFill>
                <a:latin typeface="B612 Bold" pitchFamily="34" charset="0"/>
                <a:ea typeface="B612 Bold" pitchFamily="34" charset="-122"/>
                <a:cs typeface="B612 Bold" pitchFamily="34" charset="-120"/>
              </a:rPr>
              <a:t>Manual screening slows down good decisions</a:t>
            </a:r>
            <a:endParaRPr lang="en-US" sz="2500" dirty="0"/>
          </a:p>
        </p:txBody>
      </p:sp>
      <p:sp>
        <p:nvSpPr>
          <p:cNvPr id="4" name="Shape 2"/>
          <p:cNvSpPr/>
          <p:nvPr/>
        </p:nvSpPr>
        <p:spPr>
          <a:xfrm>
            <a:off x="609585" y="1420416"/>
            <a:ext cx="5486263" cy="3523853"/>
          </a:xfrm>
          <a:custGeom>
            <a:avLst/>
            <a:gdLst/>
            <a:ahLst/>
            <a:cxnLst/>
            <a:rect l="l" t="t" r="r" b="b"/>
            <a:pathLst>
              <a:path w="5486263" h="3523853">
                <a:moveTo>
                  <a:pt x="63498" y="0"/>
                </a:moveTo>
                <a:lnTo>
                  <a:pt x="5486263" y="0"/>
                </a:lnTo>
                <a:lnTo>
                  <a:pt x="5486263" y="3523853"/>
                </a:lnTo>
                <a:lnTo>
                  <a:pt x="63498" y="3523853"/>
                </a:lnTo>
                <a:arcTo hR="63500" wR="63498" stAng="5400000" swAng="5400000"/>
                <a:lnTo>
                  <a:pt x="0" y="63500"/>
                </a:lnTo>
                <a:arcTo hR="63500" wR="63498" stAng="10800000" swAng="5400000"/>
                <a:close/>
              </a:path>
            </a:pathLst>
          </a:custGeom>
          <a:noFill/>
          <a:ln w="12700">
            <a:solidFill>
              <a:srgbClr val="1A1F26"/>
            </a:solidFill>
            <a:prstDash val="solid"/>
          </a:ln>
        </p:spPr>
      </p:sp>
      <p:sp>
        <p:nvSpPr>
          <p:cNvPr id="5" name="Text 3"/>
          <p:cNvSpPr/>
          <p:nvPr/>
        </p:nvSpPr>
        <p:spPr>
          <a:xfrm>
            <a:off x="850879" y="1664891"/>
            <a:ext cx="5244969" cy="159941"/>
          </a:xfrm>
          <a:prstGeom prst="rect">
            <a:avLst/>
          </a:prstGeom>
          <a:noFill/>
          <a:ln/>
        </p:spPr>
        <p:txBody>
          <a:bodyPr wrap="none" lIns="0" tIns="0" rIns="0" bIns="0" rtlCol="0" anchor="t"/>
          <a:lstStyle/>
          <a:p>
            <a:pPr algn="l" indent="0" marL="0">
              <a:lnSpc>
                <a:spcPct val="100000"/>
              </a:lnSpc>
              <a:buNone/>
            </a:pPr>
            <a:r>
              <a:rPr lang="en-US" sz="1050" b="1" spc="63" kern="100" dirty="0">
                <a:solidFill>
                  <a:srgbClr val="5B6570"/>
                </a:solidFill>
                <a:latin typeface="B612 Mono Bold" pitchFamily="34" charset="0"/>
                <a:ea typeface="B612 Mono Bold" pitchFamily="34" charset="-122"/>
                <a:cs typeface="B612 Mono Bold" pitchFamily="34" charset="-120"/>
              </a:rPr>
              <a:t>01 · VOLUME</a:t>
            </a:r>
            <a:endParaRPr lang="en-US" sz="1050" dirty="0"/>
          </a:p>
        </p:txBody>
      </p:sp>
      <p:sp>
        <p:nvSpPr>
          <p:cNvPr id="6" name="Text 4"/>
          <p:cNvSpPr/>
          <p:nvPr/>
        </p:nvSpPr>
        <p:spPr>
          <a:xfrm>
            <a:off x="850879" y="1899115"/>
            <a:ext cx="5003675" cy="259060"/>
          </a:xfrm>
          <a:prstGeom prst="rect">
            <a:avLst/>
          </a:prstGeom>
          <a:noFill/>
          <a:ln/>
        </p:spPr>
        <p:txBody>
          <a:bodyPr wrap="none" lIns="0" tIns="0" rIns="0" bIns="0" rtlCol="0" anchor="t"/>
          <a:lstStyle/>
          <a:p>
            <a:pPr algn="l" indent="0" marL="0">
              <a:lnSpc>
                <a:spcPct val="100000"/>
              </a:lnSpc>
              <a:buNone/>
            </a:pPr>
            <a:r>
              <a:rPr lang="en-US" sz="1700" b="1" dirty="0">
                <a:solidFill>
                  <a:srgbClr val="1A1F26"/>
                </a:solidFill>
                <a:latin typeface="Atkinson Hyperlegible Next Bold" pitchFamily="34" charset="0"/>
                <a:ea typeface="Atkinson Hyperlegible Next Bold" pitchFamily="34" charset="-122"/>
                <a:cs typeface="Atkinson Hyperlegible Next Bold" pitchFamily="34" charset="-120"/>
              </a:rPr>
              <a:t>Large resume volumes</a:t>
            </a:r>
            <a:endParaRPr lang="en-US" sz="1700" dirty="0"/>
          </a:p>
        </p:txBody>
      </p:sp>
      <p:sp>
        <p:nvSpPr>
          <p:cNvPr id="7" name="Text 5"/>
          <p:cNvSpPr/>
          <p:nvPr/>
        </p:nvSpPr>
        <p:spPr>
          <a:xfrm>
            <a:off x="850879" y="2287091"/>
            <a:ext cx="5003675"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120"/>
              </a:rPr>
              <a:t>Manual comparison becomes time-consuming when many resumes arrive for one role.</a:t>
            </a:r>
            <a:endParaRPr lang="en-US" sz="1400" dirty="0"/>
          </a:p>
        </p:txBody>
      </p:sp>
      <p:sp>
        <p:nvSpPr>
          <p:cNvPr id="8" name="Shape 6"/>
          <p:cNvSpPr/>
          <p:nvPr/>
        </p:nvSpPr>
        <p:spPr>
          <a:xfrm>
            <a:off x="6095848" y="1420416"/>
            <a:ext cx="5486263" cy="3523853"/>
          </a:xfrm>
          <a:custGeom>
            <a:avLst/>
            <a:gdLst/>
            <a:ahLst/>
            <a:cxnLst/>
            <a:rect l="l" t="t" r="r" b="b"/>
            <a:pathLst>
              <a:path w="5486263" h="3523853">
                <a:moveTo>
                  <a:pt x="0" y="0"/>
                </a:moveTo>
                <a:lnTo>
                  <a:pt x="5422764" y="0"/>
                </a:lnTo>
                <a:arcTo hR="63500" wR="63498" stAng="16200000" swAng="5400000"/>
                <a:lnTo>
                  <a:pt x="5486263" y="3460353"/>
                </a:lnTo>
                <a:arcTo hR="63500" wR="63498" stAng="0" swAng="5400000"/>
                <a:lnTo>
                  <a:pt x="0" y="3523853"/>
                </a:lnTo>
                <a:lnTo>
                  <a:pt x="0" y="0"/>
                </a:lnTo>
                <a:close/>
              </a:path>
            </a:pathLst>
          </a:custGeom>
          <a:noFill/>
          <a:ln w="12700">
            <a:solidFill>
              <a:srgbClr val="1A1F26"/>
            </a:solidFill>
            <a:prstDash val="solid"/>
          </a:ln>
        </p:spPr>
      </p:sp>
      <p:sp>
        <p:nvSpPr>
          <p:cNvPr id="9" name="Text 7"/>
          <p:cNvSpPr/>
          <p:nvPr/>
        </p:nvSpPr>
        <p:spPr>
          <a:xfrm>
            <a:off x="6337141" y="1664891"/>
            <a:ext cx="5244969" cy="159941"/>
          </a:xfrm>
          <a:prstGeom prst="rect">
            <a:avLst/>
          </a:prstGeom>
          <a:noFill/>
          <a:ln/>
        </p:spPr>
        <p:txBody>
          <a:bodyPr wrap="none" lIns="0" tIns="0" rIns="0" bIns="0" rtlCol="0" anchor="t"/>
          <a:lstStyle/>
          <a:p>
            <a:pPr algn="l" indent="0" marL="0">
              <a:lnSpc>
                <a:spcPct val="100000"/>
              </a:lnSpc>
              <a:buNone/>
            </a:pPr>
            <a:r>
              <a:rPr lang="en-US" sz="1050" b="1" spc="63" kern="100" dirty="0">
                <a:solidFill>
                  <a:srgbClr val="5B6570"/>
                </a:solidFill>
                <a:latin typeface="B612 Mono Bold" pitchFamily="34" charset="0"/>
                <a:ea typeface="B612 Mono Bold" pitchFamily="34" charset="-122"/>
                <a:cs typeface="B612 Mono Bold" pitchFamily="34" charset="-120"/>
              </a:rPr>
              <a:t>02 · CONSISTENCY</a:t>
            </a:r>
            <a:endParaRPr lang="en-US" sz="1050" dirty="0"/>
          </a:p>
        </p:txBody>
      </p:sp>
      <p:sp>
        <p:nvSpPr>
          <p:cNvPr id="10" name="Text 8"/>
          <p:cNvSpPr/>
          <p:nvPr/>
        </p:nvSpPr>
        <p:spPr>
          <a:xfrm>
            <a:off x="6337141" y="1899115"/>
            <a:ext cx="5003675" cy="259060"/>
          </a:xfrm>
          <a:prstGeom prst="rect">
            <a:avLst/>
          </a:prstGeom>
          <a:noFill/>
          <a:ln/>
        </p:spPr>
        <p:txBody>
          <a:bodyPr wrap="none" lIns="0" tIns="0" rIns="0" bIns="0" rtlCol="0" anchor="t"/>
          <a:lstStyle/>
          <a:p>
            <a:pPr algn="l" indent="0" marL="0">
              <a:lnSpc>
                <a:spcPct val="100000"/>
              </a:lnSpc>
              <a:buNone/>
            </a:pPr>
            <a:r>
              <a:rPr lang="en-US" sz="1700" b="1" dirty="0">
                <a:solidFill>
                  <a:srgbClr val="1A1F26"/>
                </a:solidFill>
                <a:latin typeface="Atkinson Hyperlegible Next Bold" pitchFamily="34" charset="0"/>
                <a:ea typeface="Atkinson Hyperlegible Next Bold" pitchFamily="34" charset="-122"/>
                <a:cs typeface="Atkinson Hyperlegible Next Bold" pitchFamily="34" charset="-120"/>
              </a:rPr>
              <a:t>Qualified candidates can be overlooked</a:t>
            </a:r>
            <a:endParaRPr lang="en-US" sz="1700" dirty="0"/>
          </a:p>
        </p:txBody>
      </p:sp>
      <p:sp>
        <p:nvSpPr>
          <p:cNvPr id="11" name="Text 9"/>
          <p:cNvSpPr/>
          <p:nvPr/>
        </p:nvSpPr>
        <p:spPr>
          <a:xfrm>
            <a:off x="6337141" y="2287091"/>
            <a:ext cx="5003675"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120"/>
              </a:rPr>
              <a:t>Inconsistent screening makes it harder to compare every candidate fairly.</a:t>
            </a:r>
            <a:endParaRPr lang="en-US" sz="1400" dirty="0"/>
          </a:p>
        </p:txBody>
      </p:sp>
      <p:sp>
        <p:nvSpPr>
          <p:cNvPr id="12" name="Shape 10"/>
          <p:cNvSpPr/>
          <p:nvPr/>
        </p:nvSpPr>
        <p:spPr>
          <a:xfrm>
            <a:off x="609585" y="5172869"/>
            <a:ext cx="10972526" cy="923131"/>
          </a:xfrm>
          <a:prstGeom prst="rect">
            <a:avLst/>
          </a:prstGeom>
          <a:solidFill>
            <a:srgbClr val="E8E5FA"/>
          </a:solidFill>
          <a:ln/>
        </p:spPr>
      </p:sp>
      <p:sp>
        <p:nvSpPr>
          <p:cNvPr id="13" name="Text 11"/>
          <p:cNvSpPr/>
          <p:nvPr/>
        </p:nvSpPr>
        <p:spPr>
          <a:xfrm>
            <a:off x="863578" y="5379244"/>
            <a:ext cx="10718532" cy="159941"/>
          </a:xfrm>
          <a:prstGeom prst="rect">
            <a:avLst/>
          </a:prstGeom>
          <a:noFill/>
          <a:ln/>
        </p:spPr>
        <p:txBody>
          <a:bodyPr wrap="none" lIns="0" tIns="0" rIns="0" bIns="0" rtlCol="0" anchor="t"/>
          <a:lstStyle/>
          <a:p>
            <a:pPr algn="l" indent="0" marL="0">
              <a:lnSpc>
                <a:spcPct val="100000"/>
              </a:lnSpc>
              <a:buNone/>
            </a:pPr>
            <a:r>
              <a:rPr lang="en-US" sz="1050" spc="84" kern="100" dirty="0">
                <a:solidFill>
                  <a:srgbClr val="000000"/>
                </a:solidFill>
                <a:latin typeface="B612 Mono" pitchFamily="34" charset="0"/>
                <a:ea typeface="B612 Mono" pitchFamily="34" charset="-122"/>
                <a:cs typeface="B612 Mono" pitchFamily="34" charset="-120"/>
              </a:rPr>
              <a:t>SOLUTION</a:t>
            </a:r>
            <a:endParaRPr lang="en-US" sz="1050" dirty="0"/>
          </a:p>
        </p:txBody>
      </p:sp>
      <p:sp>
        <p:nvSpPr>
          <p:cNvPr id="14" name="Text 12"/>
          <p:cNvSpPr/>
          <p:nvPr/>
        </p:nvSpPr>
        <p:spPr>
          <a:xfrm>
            <a:off x="863578" y="5643959"/>
            <a:ext cx="10718532" cy="248841"/>
          </a:xfrm>
          <a:prstGeom prst="rect">
            <a:avLst/>
          </a:prstGeom>
          <a:noFill/>
          <a:ln/>
        </p:spPr>
        <p:txBody>
          <a:bodyPr wrap="none" lIns="0" tIns="0" rIns="0" bIns="0" rtlCol="0" anchor="t"/>
          <a:lstStyle/>
          <a:p>
            <a:pPr algn="l" indent="0" marL="0">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120"/>
              </a:rPr>
              <a:t>Compare resumes with job requirements, calculate similarity, and rank candidates using DSA.</a:t>
            </a:r>
            <a:endParaRPr lang="en-US" sz="1400" dirty="0"/>
          </a:p>
        </p:txBody>
      </p:sp>
      <p:sp>
        <p:nvSpPr>
          <p:cNvPr id="15" name="Shape 13"/>
          <p:cNvSpPr/>
          <p:nvPr/>
        </p:nvSpPr>
        <p:spPr>
          <a:xfrm>
            <a:off x="6089498" y="1420416"/>
            <a:ext cx="12700" cy="3523853"/>
          </a:xfrm>
          <a:prstGeom prst="rect">
            <a:avLst/>
          </a:prstGeom>
          <a:solidFill>
            <a:srgbClr val="C2CCD5"/>
          </a:solidFill>
          <a:ln/>
        </p:spPr>
      </p:sp>
      <p:pic>
        <p:nvPicPr>
          <p:cNvPr id="16" name="Image 0" descr="preencoded.png">    </p:cNvPr>
          <p:cNvPicPr>
            <a:picLocks noChangeAspect="1"/>
          </p:cNvPicPr>
          <p:nvPr/>
        </p:nvPicPr>
        <p:blipFill>
          <a:blip r:embed="rId1"/>
          <a:stretch>
            <a:fillRect/>
          </a:stretch>
        </p:blipFill>
        <p:spPr>
          <a:xfrm>
            <a:off x="609585" y="6350000"/>
            <a:ext cx="10972526" cy="63500"/>
          </a:xfrm>
          <a:prstGeom prst="rect">
            <a:avLst/>
          </a:prstGeom>
        </p:spPr>
      </p:pic>
      <p:sp>
        <p:nvSpPr>
          <p:cNvPr id="17" name="Text 14"/>
          <p:cNvSpPr/>
          <p:nvPr/>
        </p:nvSpPr>
        <p:spPr>
          <a:xfrm>
            <a:off x="172438" y="6481465"/>
            <a:ext cx="2836792"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AI RESUME SCREENING SYSTEM</a:t>
            </a:r>
            <a:endParaRPr lang="en-US" sz="950" dirty="0"/>
          </a:p>
        </p:txBody>
      </p:sp>
      <p:sp>
        <p:nvSpPr>
          <p:cNvPr id="18" name="Text 15"/>
          <p:cNvSpPr/>
          <p:nvPr/>
        </p:nvSpPr>
        <p:spPr>
          <a:xfrm>
            <a:off x="11419495" y="6481465"/>
            <a:ext cx="772200"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02 / 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algn="l" indent="0" marL="0">
              <a:lnSpc>
                <a:spcPct val="100000"/>
              </a:lnSpc>
              <a:buNone/>
            </a:pPr>
            <a:r>
              <a:rPr lang="en-US" sz="1050" spc="84" kern="100" dirty="0">
                <a:solidFill>
                  <a:srgbClr val="5B6570"/>
                </a:solidFill>
                <a:latin typeface="B612 Mono" pitchFamily="34" charset="0"/>
                <a:ea typeface="B612 Mono" pitchFamily="34" charset="-122"/>
                <a:cs typeface="B612 Mono" pitchFamily="34" charset="-120"/>
              </a:rPr>
              <a:t>SYSTEM FLOW</a:t>
            </a:r>
            <a:endParaRPr lang="en-US" sz="1050" dirty="0"/>
          </a:p>
        </p:txBody>
      </p:sp>
      <p:sp>
        <p:nvSpPr>
          <p:cNvPr id="3" name="Text 1"/>
          <p:cNvSpPr/>
          <p:nvPr/>
        </p:nvSpPr>
        <p:spPr>
          <a:xfrm>
            <a:off x="609585" y="858440"/>
            <a:ext cx="10972526" cy="349250"/>
          </a:xfrm>
          <a:prstGeom prst="rect">
            <a:avLst/>
          </a:prstGeom>
          <a:noFill/>
          <a:ln/>
        </p:spPr>
        <p:txBody>
          <a:bodyPr wrap="none" lIns="0" tIns="0" rIns="0" bIns="0" rtlCol="0" anchor="t"/>
          <a:lstStyle/>
          <a:p>
            <a:pPr algn="l" indent="0" marL="0">
              <a:lnSpc>
                <a:spcPct val="92000"/>
              </a:lnSpc>
              <a:buNone/>
            </a:pPr>
            <a:r>
              <a:rPr lang="en-US" sz="2500" b="1" spc="-25" kern="100" dirty="0">
                <a:solidFill>
                  <a:srgbClr val="1A1F26"/>
                </a:solidFill>
                <a:latin typeface="B612 Bold" pitchFamily="34" charset="0"/>
                <a:ea typeface="B612 Bold" pitchFamily="34" charset="-122"/>
                <a:cs typeface="B612 Bold" pitchFamily="34" charset="-120"/>
              </a:rPr>
              <a:t>From job description to final report</a:t>
            </a:r>
            <a:endParaRPr lang="en-US" sz="2500" dirty="0"/>
          </a:p>
        </p:txBody>
      </p:sp>
      <p:sp>
        <p:nvSpPr>
          <p:cNvPr id="4" name="Text 2"/>
          <p:cNvSpPr/>
          <p:nvPr/>
        </p:nvSpPr>
        <p:spPr>
          <a:xfrm>
            <a:off x="609585" y="1375966"/>
            <a:ext cx="11582110" cy="188516"/>
          </a:xfrm>
          <a:prstGeom prst="rect">
            <a:avLst/>
          </a:prstGeom>
          <a:noFill/>
          <a:ln/>
        </p:spPr>
        <p:txBody>
          <a:bodyPr wrap="none" lIns="0" tIns="0" rIns="0" bIns="0" rtlCol="0" anchor="t"/>
          <a:lstStyle/>
          <a:p>
            <a:pPr algn="l" indent="0" marL="0">
              <a:lnSpc>
                <a:spcPct val="112000"/>
              </a:lnSpc>
              <a:buNone/>
            </a:pPr>
            <a:r>
              <a:rPr lang="en-US" sz="1100" dirty="0">
                <a:solidFill>
                  <a:srgbClr val="5B6570"/>
                </a:solidFill>
                <a:latin typeface="Atkinson Hyperlegible Next" pitchFamily="34" charset="0"/>
                <a:ea typeface="Atkinson Hyperlegible Next" pitchFamily="34" charset="-122"/>
                <a:cs typeface="Atkinson Hyperlegible Next" pitchFamily="34" charset="-120"/>
              </a:rPr>
              <a:t>The DSA steps are matching, similarity, ranking, and duplicate detection.</a:t>
            </a:r>
            <a:endParaRPr lang="en-US" sz="1100" dirty="0"/>
          </a:p>
        </p:txBody>
      </p:sp>
      <p:sp>
        <p:nvSpPr>
          <p:cNvPr id="5" name="Shape 3"/>
          <p:cNvSpPr/>
          <p:nvPr/>
        </p:nvSpPr>
        <p:spPr>
          <a:xfrm>
            <a:off x="609585" y="1767681"/>
            <a:ext cx="1950691" cy="4328319"/>
          </a:xfrm>
          <a:prstGeom prst="roundRect">
            <a:avLst>
              <a:gd name="adj" fmla="val 3906"/>
            </a:avLst>
          </a:prstGeom>
          <a:noFill/>
          <a:ln w="12700">
            <a:solidFill>
              <a:srgbClr val="1A1F26"/>
            </a:solidFill>
            <a:prstDash val="solid"/>
          </a:ln>
        </p:spPr>
      </p:sp>
      <p:sp>
        <p:nvSpPr>
          <p:cNvPr id="6" name="Text 4"/>
          <p:cNvSpPr/>
          <p:nvPr/>
        </p:nvSpPr>
        <p:spPr>
          <a:xfrm>
            <a:off x="850879" y="2008981"/>
            <a:ext cx="802759" cy="177800"/>
          </a:xfrm>
          <a:prstGeom prst="rect">
            <a:avLst/>
          </a:prstGeom>
          <a:noFill/>
          <a:ln/>
        </p:spPr>
        <p:txBody>
          <a:bodyPr wrap="none" lIns="0" tIns="0" rIns="0" bIns="0" rtlCol="0" anchor="t"/>
          <a:lstStyle/>
          <a:p>
            <a:pPr algn="l" indent="0" marL="0">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120"/>
              </a:rPr>
              <a:t>01</a:t>
            </a:r>
            <a:endParaRPr lang="en-US" sz="1400" dirty="0"/>
          </a:p>
        </p:txBody>
      </p:sp>
      <p:sp>
        <p:nvSpPr>
          <p:cNvPr id="7" name="Shape 5"/>
          <p:cNvSpPr/>
          <p:nvPr/>
        </p:nvSpPr>
        <p:spPr>
          <a:xfrm>
            <a:off x="850879" y="2257921"/>
            <a:ext cx="1468004" cy="19050"/>
          </a:xfrm>
          <a:prstGeom prst="rect">
            <a:avLst/>
          </a:prstGeom>
          <a:solidFill>
            <a:srgbClr val="4C3BCF"/>
          </a:solidFill>
          <a:ln/>
        </p:spPr>
      </p:sp>
      <p:sp>
        <p:nvSpPr>
          <p:cNvPr id="8" name="Text 6"/>
          <p:cNvSpPr/>
          <p:nvPr/>
        </p:nvSpPr>
        <p:spPr>
          <a:xfrm>
            <a:off x="850879" y="2390299"/>
            <a:ext cx="1468103"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Job description</a:t>
            </a:r>
            <a:endParaRPr lang="en-US" sz="1450" dirty="0"/>
          </a:p>
        </p:txBody>
      </p:sp>
      <p:sp>
        <p:nvSpPr>
          <p:cNvPr id="9" name="Text 7"/>
          <p:cNvSpPr/>
          <p:nvPr/>
        </p:nvSpPr>
        <p:spPr>
          <a:xfrm>
            <a:off x="850879" y="2737941"/>
            <a:ext cx="1468103"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120"/>
              </a:rPr>
              <a:t>Extract required skills.</a:t>
            </a:r>
            <a:endParaRPr lang="en-US" sz="1400" dirty="0"/>
          </a:p>
        </p:txBody>
      </p:sp>
      <p:sp>
        <p:nvSpPr>
          <p:cNvPr id="10" name="Shape 8"/>
          <p:cNvSpPr/>
          <p:nvPr/>
        </p:nvSpPr>
        <p:spPr>
          <a:xfrm>
            <a:off x="2864969" y="1767681"/>
            <a:ext cx="1950691" cy="4328319"/>
          </a:xfrm>
          <a:prstGeom prst="roundRect">
            <a:avLst>
              <a:gd name="adj" fmla="val 3906"/>
            </a:avLst>
          </a:prstGeom>
          <a:noFill/>
          <a:ln w="12700">
            <a:solidFill>
              <a:srgbClr val="1A1F26"/>
            </a:solidFill>
            <a:prstDash val="solid"/>
          </a:ln>
        </p:spPr>
      </p:sp>
      <p:sp>
        <p:nvSpPr>
          <p:cNvPr id="11" name="Text 9"/>
          <p:cNvSpPr/>
          <p:nvPr/>
        </p:nvSpPr>
        <p:spPr>
          <a:xfrm>
            <a:off x="3106263" y="2008981"/>
            <a:ext cx="827464" cy="177800"/>
          </a:xfrm>
          <a:prstGeom prst="rect">
            <a:avLst/>
          </a:prstGeom>
          <a:noFill/>
          <a:ln/>
        </p:spPr>
        <p:txBody>
          <a:bodyPr wrap="none" lIns="0" tIns="0" rIns="0" bIns="0" rtlCol="0" anchor="t"/>
          <a:lstStyle/>
          <a:p>
            <a:pPr algn="l" indent="0" marL="0">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120"/>
              </a:rPr>
              <a:t>02</a:t>
            </a:r>
            <a:endParaRPr lang="en-US" sz="1400" dirty="0"/>
          </a:p>
        </p:txBody>
      </p:sp>
      <p:sp>
        <p:nvSpPr>
          <p:cNvPr id="12" name="Shape 10"/>
          <p:cNvSpPr/>
          <p:nvPr/>
        </p:nvSpPr>
        <p:spPr>
          <a:xfrm>
            <a:off x="3106263" y="2257921"/>
            <a:ext cx="1468004" cy="19050"/>
          </a:xfrm>
          <a:prstGeom prst="rect">
            <a:avLst/>
          </a:prstGeom>
          <a:solidFill>
            <a:srgbClr val="4C3BCF"/>
          </a:solidFill>
          <a:ln/>
        </p:spPr>
      </p:sp>
      <p:sp>
        <p:nvSpPr>
          <p:cNvPr id="13" name="Text 11"/>
          <p:cNvSpPr/>
          <p:nvPr/>
        </p:nvSpPr>
        <p:spPr>
          <a:xfrm>
            <a:off x="3106263" y="2390299"/>
            <a:ext cx="1468103"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Resume upload</a:t>
            </a:r>
            <a:endParaRPr lang="en-US" sz="1450" dirty="0"/>
          </a:p>
        </p:txBody>
      </p:sp>
      <p:sp>
        <p:nvSpPr>
          <p:cNvPr id="14" name="Text 12"/>
          <p:cNvSpPr/>
          <p:nvPr/>
        </p:nvSpPr>
        <p:spPr>
          <a:xfrm>
            <a:off x="3106263" y="2737941"/>
            <a:ext cx="1468103"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120"/>
              </a:rPr>
              <a:t>Extract resume text.</a:t>
            </a:r>
            <a:endParaRPr lang="en-US" sz="1400" dirty="0"/>
          </a:p>
        </p:txBody>
      </p:sp>
      <p:sp>
        <p:nvSpPr>
          <p:cNvPr id="15" name="Shape 13"/>
          <p:cNvSpPr/>
          <p:nvPr/>
        </p:nvSpPr>
        <p:spPr>
          <a:xfrm>
            <a:off x="5120353" y="1767681"/>
            <a:ext cx="1950889" cy="4328319"/>
          </a:xfrm>
          <a:prstGeom prst="roundRect">
            <a:avLst>
              <a:gd name="adj" fmla="val 3906"/>
            </a:avLst>
          </a:prstGeom>
          <a:solidFill>
            <a:srgbClr val="E8E5FA"/>
          </a:solidFill>
          <a:ln w="12700">
            <a:solidFill>
              <a:srgbClr val="4C3BCF"/>
            </a:solidFill>
            <a:prstDash val="solid"/>
          </a:ln>
        </p:spPr>
      </p:sp>
      <p:sp>
        <p:nvSpPr>
          <p:cNvPr id="16" name="Text 14"/>
          <p:cNvSpPr/>
          <p:nvPr/>
        </p:nvSpPr>
        <p:spPr>
          <a:xfrm>
            <a:off x="5361647" y="2008981"/>
            <a:ext cx="831532" cy="177800"/>
          </a:xfrm>
          <a:prstGeom prst="rect">
            <a:avLst/>
          </a:prstGeom>
          <a:noFill/>
          <a:ln/>
        </p:spPr>
        <p:txBody>
          <a:bodyPr wrap="none" lIns="0" tIns="0" rIns="0" bIns="0" rtlCol="0" anchor="t"/>
          <a:lstStyle/>
          <a:p>
            <a:pPr algn="l" indent="0" marL="0">
              <a:lnSpc>
                <a:spcPct val="83000"/>
              </a:lnSpc>
              <a:buNone/>
            </a:pPr>
            <a:r>
              <a:rPr lang="en-US" sz="1400" dirty="0">
                <a:solidFill>
                  <a:srgbClr val="000000"/>
                </a:solidFill>
                <a:latin typeface="Atkinson Hyperlegible Next SemiBold" pitchFamily="34" charset="0"/>
                <a:ea typeface="Atkinson Hyperlegible Next SemiBold" pitchFamily="34" charset="-122"/>
                <a:cs typeface="Atkinson Hyperlegible Next SemiBold" pitchFamily="34" charset="-120"/>
              </a:rPr>
              <a:t>03</a:t>
            </a:r>
            <a:endParaRPr lang="en-US" sz="1400" dirty="0"/>
          </a:p>
        </p:txBody>
      </p:sp>
      <p:sp>
        <p:nvSpPr>
          <p:cNvPr id="17" name="Shape 15"/>
          <p:cNvSpPr/>
          <p:nvPr/>
        </p:nvSpPr>
        <p:spPr>
          <a:xfrm>
            <a:off x="5361647" y="2257921"/>
            <a:ext cx="1468202" cy="19050"/>
          </a:xfrm>
          <a:prstGeom prst="rect">
            <a:avLst/>
          </a:prstGeom>
          <a:solidFill>
            <a:srgbClr val="4C3BCF"/>
          </a:solidFill>
          <a:ln/>
        </p:spPr>
      </p:sp>
      <p:sp>
        <p:nvSpPr>
          <p:cNvPr id="18" name="Text 16"/>
          <p:cNvSpPr/>
          <p:nvPr/>
        </p:nvSpPr>
        <p:spPr>
          <a:xfrm>
            <a:off x="5361647" y="2390299"/>
            <a:ext cx="1468302" cy="220960"/>
          </a:xfrm>
          <a:prstGeom prst="rect">
            <a:avLst/>
          </a:prstGeom>
          <a:noFill/>
          <a:ln/>
        </p:spPr>
        <p:txBody>
          <a:bodyPr wrap="none" lIns="0" tIns="0" rIns="0" bIns="0" rtlCol="0" anchor="t"/>
          <a:lstStyle/>
          <a:p>
            <a:pPr algn="l" indent="0" marL="0">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120"/>
              </a:rPr>
              <a:t>Preprocessing</a:t>
            </a:r>
            <a:endParaRPr lang="en-US" sz="1450" dirty="0"/>
          </a:p>
        </p:txBody>
      </p:sp>
      <p:sp>
        <p:nvSpPr>
          <p:cNvPr id="19" name="Text 17"/>
          <p:cNvSpPr/>
          <p:nvPr/>
        </p:nvSpPr>
        <p:spPr>
          <a:xfrm>
            <a:off x="5361647" y="2737941"/>
            <a:ext cx="1468302"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120"/>
              </a:rPr>
              <a:t>Match skills and detect duplicates.</a:t>
            </a:r>
            <a:endParaRPr lang="en-US" sz="1400" dirty="0"/>
          </a:p>
        </p:txBody>
      </p:sp>
      <p:sp>
        <p:nvSpPr>
          <p:cNvPr id="20" name="Shape 18"/>
          <p:cNvSpPr/>
          <p:nvPr/>
        </p:nvSpPr>
        <p:spPr>
          <a:xfrm>
            <a:off x="7375936" y="1767681"/>
            <a:ext cx="1950691" cy="4328319"/>
          </a:xfrm>
          <a:prstGeom prst="roundRect">
            <a:avLst>
              <a:gd name="adj" fmla="val 3906"/>
            </a:avLst>
          </a:prstGeom>
          <a:solidFill>
            <a:srgbClr val="E8E5FA"/>
          </a:solidFill>
          <a:ln w="12700">
            <a:solidFill>
              <a:srgbClr val="4C3BCF"/>
            </a:solidFill>
            <a:prstDash val="solid"/>
          </a:ln>
        </p:spPr>
      </p:sp>
      <p:sp>
        <p:nvSpPr>
          <p:cNvPr id="21" name="Text 19"/>
          <p:cNvSpPr/>
          <p:nvPr/>
        </p:nvSpPr>
        <p:spPr>
          <a:xfrm>
            <a:off x="7617230" y="2008981"/>
            <a:ext cx="836691" cy="177800"/>
          </a:xfrm>
          <a:prstGeom prst="rect">
            <a:avLst/>
          </a:prstGeom>
          <a:noFill/>
          <a:ln/>
        </p:spPr>
        <p:txBody>
          <a:bodyPr wrap="none" lIns="0" tIns="0" rIns="0" bIns="0" rtlCol="0" anchor="t"/>
          <a:lstStyle/>
          <a:p>
            <a:pPr algn="l" indent="0" marL="0">
              <a:lnSpc>
                <a:spcPct val="83000"/>
              </a:lnSpc>
              <a:buNone/>
            </a:pPr>
            <a:r>
              <a:rPr lang="en-US" sz="1400" dirty="0">
                <a:solidFill>
                  <a:srgbClr val="000000"/>
                </a:solidFill>
                <a:latin typeface="Atkinson Hyperlegible Next SemiBold" pitchFamily="34" charset="0"/>
                <a:ea typeface="Atkinson Hyperlegible Next SemiBold" pitchFamily="34" charset="-122"/>
                <a:cs typeface="Atkinson Hyperlegible Next SemiBold" pitchFamily="34" charset="-120"/>
              </a:rPr>
              <a:t>04</a:t>
            </a:r>
            <a:endParaRPr lang="en-US" sz="1400" dirty="0"/>
          </a:p>
        </p:txBody>
      </p:sp>
      <p:sp>
        <p:nvSpPr>
          <p:cNvPr id="22" name="Shape 20"/>
          <p:cNvSpPr/>
          <p:nvPr/>
        </p:nvSpPr>
        <p:spPr>
          <a:xfrm>
            <a:off x="7617230" y="2257921"/>
            <a:ext cx="1468004" cy="19050"/>
          </a:xfrm>
          <a:prstGeom prst="rect">
            <a:avLst/>
          </a:prstGeom>
          <a:solidFill>
            <a:srgbClr val="4C3BCF"/>
          </a:solidFill>
          <a:ln/>
        </p:spPr>
      </p:sp>
      <p:sp>
        <p:nvSpPr>
          <p:cNvPr id="23" name="Text 21"/>
          <p:cNvSpPr/>
          <p:nvPr/>
        </p:nvSpPr>
        <p:spPr>
          <a:xfrm>
            <a:off x="7617230" y="2390299"/>
            <a:ext cx="1468103" cy="220960"/>
          </a:xfrm>
          <a:prstGeom prst="rect">
            <a:avLst/>
          </a:prstGeom>
          <a:noFill/>
          <a:ln/>
        </p:spPr>
        <p:txBody>
          <a:bodyPr wrap="none" lIns="0" tIns="0" rIns="0" bIns="0" rtlCol="0" anchor="t"/>
          <a:lstStyle/>
          <a:p>
            <a:pPr algn="l" indent="0" marL="0">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120"/>
              </a:rPr>
              <a:t>Similarity</a:t>
            </a:r>
            <a:endParaRPr lang="en-US" sz="1450" dirty="0"/>
          </a:p>
        </p:txBody>
      </p:sp>
      <p:sp>
        <p:nvSpPr>
          <p:cNvPr id="24" name="Text 22"/>
          <p:cNvSpPr/>
          <p:nvPr/>
        </p:nvSpPr>
        <p:spPr>
          <a:xfrm>
            <a:off x="7617230" y="2737941"/>
            <a:ext cx="1468103" cy="746522"/>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120"/>
              </a:rPr>
              <a:t>Calculate scores and rank candidates.</a:t>
            </a:r>
            <a:endParaRPr lang="en-US" sz="1400" dirty="0"/>
          </a:p>
        </p:txBody>
      </p:sp>
      <p:sp>
        <p:nvSpPr>
          <p:cNvPr id="25" name="Shape 23"/>
          <p:cNvSpPr/>
          <p:nvPr/>
        </p:nvSpPr>
        <p:spPr>
          <a:xfrm>
            <a:off x="9631320" y="1767681"/>
            <a:ext cx="1950790" cy="4328319"/>
          </a:xfrm>
          <a:prstGeom prst="roundRect">
            <a:avLst>
              <a:gd name="adj" fmla="val 3906"/>
            </a:avLst>
          </a:prstGeom>
          <a:noFill/>
          <a:ln w="12700">
            <a:solidFill>
              <a:srgbClr val="1A1F26"/>
            </a:solidFill>
            <a:prstDash val="solid"/>
          </a:ln>
        </p:spPr>
      </p:sp>
      <p:sp>
        <p:nvSpPr>
          <p:cNvPr id="26" name="Text 24"/>
          <p:cNvSpPr/>
          <p:nvPr/>
        </p:nvSpPr>
        <p:spPr>
          <a:xfrm>
            <a:off x="9872614" y="2008981"/>
            <a:ext cx="833317" cy="177800"/>
          </a:xfrm>
          <a:prstGeom prst="rect">
            <a:avLst/>
          </a:prstGeom>
          <a:noFill/>
          <a:ln/>
        </p:spPr>
        <p:txBody>
          <a:bodyPr wrap="none" lIns="0" tIns="0" rIns="0" bIns="0" rtlCol="0" anchor="t"/>
          <a:lstStyle/>
          <a:p>
            <a:pPr algn="l" indent="0" marL="0">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120"/>
              </a:rPr>
              <a:t>05</a:t>
            </a:r>
            <a:endParaRPr lang="en-US" sz="1400" dirty="0"/>
          </a:p>
        </p:txBody>
      </p:sp>
      <p:sp>
        <p:nvSpPr>
          <p:cNvPr id="27" name="Shape 25"/>
          <p:cNvSpPr/>
          <p:nvPr/>
        </p:nvSpPr>
        <p:spPr>
          <a:xfrm>
            <a:off x="9872614" y="2257921"/>
            <a:ext cx="1468202" cy="19050"/>
          </a:xfrm>
          <a:prstGeom prst="rect">
            <a:avLst/>
          </a:prstGeom>
          <a:solidFill>
            <a:srgbClr val="4C3BCF"/>
          </a:solidFill>
          <a:ln/>
        </p:spPr>
      </p:sp>
      <p:sp>
        <p:nvSpPr>
          <p:cNvPr id="28" name="Text 26"/>
          <p:cNvSpPr/>
          <p:nvPr/>
        </p:nvSpPr>
        <p:spPr>
          <a:xfrm>
            <a:off x="9872614" y="2390299"/>
            <a:ext cx="1468202"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Final report</a:t>
            </a:r>
            <a:endParaRPr lang="en-US" sz="1450" dirty="0"/>
          </a:p>
        </p:txBody>
      </p:sp>
      <p:sp>
        <p:nvSpPr>
          <p:cNvPr id="29" name="Text 27"/>
          <p:cNvSpPr/>
          <p:nvPr/>
        </p:nvSpPr>
        <p:spPr>
          <a:xfrm>
            <a:off x="9872614" y="2737941"/>
            <a:ext cx="1468202"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120"/>
              </a:rPr>
              <a:t>Show matched and missing skills.</a:t>
            </a:r>
            <a:endParaRPr lang="en-US" sz="1400" dirty="0"/>
          </a:p>
        </p:txBody>
      </p:sp>
      <p:pic>
        <p:nvPicPr>
          <p:cNvPr id="30" name="Image 0" descr="preencoded.png">    </p:cNvPr>
          <p:cNvPicPr>
            <a:picLocks noChangeAspect="1"/>
          </p:cNvPicPr>
          <p:nvPr/>
        </p:nvPicPr>
        <p:blipFill>
          <a:blip r:embed="rId1"/>
          <a:stretch>
            <a:fillRect/>
          </a:stretch>
        </p:blipFill>
        <p:spPr>
          <a:xfrm>
            <a:off x="609585" y="6350000"/>
            <a:ext cx="10972526" cy="63500"/>
          </a:xfrm>
          <a:prstGeom prst="rect">
            <a:avLst/>
          </a:prstGeom>
        </p:spPr>
      </p:pic>
      <p:sp>
        <p:nvSpPr>
          <p:cNvPr id="31" name="Text 28"/>
          <p:cNvSpPr/>
          <p:nvPr/>
        </p:nvSpPr>
        <p:spPr>
          <a:xfrm>
            <a:off x="172438" y="6481465"/>
            <a:ext cx="2836792"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AI RESUME SCREENING SYSTEM</a:t>
            </a:r>
            <a:endParaRPr lang="en-US" sz="950" dirty="0"/>
          </a:p>
        </p:txBody>
      </p:sp>
      <p:sp>
        <p:nvSpPr>
          <p:cNvPr id="32" name="Text 29"/>
          <p:cNvSpPr/>
          <p:nvPr/>
        </p:nvSpPr>
        <p:spPr>
          <a:xfrm>
            <a:off x="11419495" y="6481465"/>
            <a:ext cx="772200"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03 / 10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algn="l" indent="0" marL="0">
              <a:lnSpc>
                <a:spcPct val="100000"/>
              </a:lnSpc>
              <a:buNone/>
            </a:pPr>
            <a:r>
              <a:rPr lang="en-US" sz="1050" spc="84" kern="100" dirty="0">
                <a:solidFill>
                  <a:srgbClr val="5B6570"/>
                </a:solidFill>
                <a:latin typeface="B612 Mono" pitchFamily="34" charset="0"/>
                <a:ea typeface="B612 Mono" pitchFamily="34" charset="-122"/>
                <a:cs typeface="B612 Mono" pitchFamily="34" charset="-120"/>
              </a:rPr>
              <a:t>TECHNICAL CORE</a:t>
            </a:r>
            <a:endParaRPr lang="en-US" sz="1050" dirty="0"/>
          </a:p>
        </p:txBody>
      </p:sp>
      <p:sp>
        <p:nvSpPr>
          <p:cNvPr id="3" name="Text 1"/>
          <p:cNvSpPr/>
          <p:nvPr/>
        </p:nvSpPr>
        <p:spPr>
          <a:xfrm>
            <a:off x="609585" y="858440"/>
            <a:ext cx="10972526" cy="349250"/>
          </a:xfrm>
          <a:prstGeom prst="rect">
            <a:avLst/>
          </a:prstGeom>
          <a:noFill/>
          <a:ln/>
        </p:spPr>
        <p:txBody>
          <a:bodyPr wrap="none" lIns="0" tIns="0" rIns="0" bIns="0" rtlCol="0" anchor="t"/>
          <a:lstStyle/>
          <a:p>
            <a:pPr algn="l" indent="0" marL="0">
              <a:lnSpc>
                <a:spcPct val="92000"/>
              </a:lnSpc>
              <a:buNone/>
            </a:pPr>
            <a:r>
              <a:rPr lang="en-US" sz="2500" b="1" spc="-25" kern="100" dirty="0">
                <a:solidFill>
                  <a:srgbClr val="1A1F26"/>
                </a:solidFill>
                <a:latin typeface="B612 Bold" pitchFamily="34" charset="0"/>
                <a:ea typeface="B612 Bold" pitchFamily="34" charset="-122"/>
                <a:cs typeface="B612 Bold" pitchFamily="34" charset="-120"/>
              </a:rPr>
              <a:t>DSA is the system’s technical core</a:t>
            </a:r>
            <a:endParaRPr lang="en-US" sz="2500" dirty="0"/>
          </a:p>
        </p:txBody>
      </p:sp>
      <p:sp>
        <p:nvSpPr>
          <p:cNvPr id="4" name="Shape 2"/>
          <p:cNvSpPr/>
          <p:nvPr/>
        </p:nvSpPr>
        <p:spPr>
          <a:xfrm>
            <a:off x="609585" y="1369616"/>
            <a:ext cx="5333867" cy="4726384"/>
          </a:xfrm>
          <a:prstGeom prst="roundRect">
            <a:avLst>
              <a:gd name="adj" fmla="val 1612"/>
            </a:avLst>
          </a:prstGeom>
          <a:noFill/>
          <a:ln w="12700">
            <a:solidFill>
              <a:srgbClr val="1A1F26"/>
            </a:solidFill>
            <a:prstDash val="solid"/>
          </a:ln>
        </p:spPr>
      </p:sp>
      <p:sp>
        <p:nvSpPr>
          <p:cNvPr id="5" name="Text 3"/>
          <p:cNvSpPr/>
          <p:nvPr/>
        </p:nvSpPr>
        <p:spPr>
          <a:xfrm>
            <a:off x="850879" y="1614091"/>
            <a:ext cx="5092573" cy="159941"/>
          </a:xfrm>
          <a:prstGeom prst="rect">
            <a:avLst/>
          </a:prstGeom>
          <a:noFill/>
          <a:ln/>
        </p:spPr>
        <p:txBody>
          <a:bodyPr wrap="none" lIns="0" tIns="0" rIns="0" bIns="0" rtlCol="0" anchor="t"/>
          <a:lstStyle/>
          <a:p>
            <a:pPr algn="l" indent="0" marL="0">
              <a:lnSpc>
                <a:spcPct val="100000"/>
              </a:lnSpc>
              <a:buNone/>
            </a:pPr>
            <a:r>
              <a:rPr lang="en-US" sz="1050" b="1" spc="63" kern="100" dirty="0">
                <a:solidFill>
                  <a:srgbClr val="5B6570"/>
                </a:solidFill>
                <a:latin typeface="B612 Mono Bold" pitchFamily="34" charset="0"/>
                <a:ea typeface="B612 Mono Bold" pitchFamily="34" charset="-122"/>
                <a:cs typeface="B612 Mono Bold" pitchFamily="34" charset="-120"/>
              </a:rPr>
              <a:t>DATA STRUCTURES</a:t>
            </a:r>
            <a:endParaRPr lang="en-US" sz="1050" dirty="0"/>
          </a:p>
        </p:txBody>
      </p:sp>
      <p:pic>
        <p:nvPicPr>
          <p:cNvPr id="6" name="Image 0" descr="preencoded.png">    </p:cNvPr>
          <p:cNvPicPr>
            <a:picLocks noChangeAspect="1"/>
          </p:cNvPicPr>
          <p:nvPr/>
        </p:nvPicPr>
        <p:blipFill>
          <a:blip r:embed="rId1"/>
          <a:stretch>
            <a:fillRect/>
          </a:stretch>
        </p:blipFill>
        <p:spPr>
          <a:xfrm>
            <a:off x="850879" y="1878806"/>
            <a:ext cx="444489" cy="444500"/>
          </a:xfrm>
          <a:prstGeom prst="rect">
            <a:avLst/>
          </a:prstGeom>
        </p:spPr>
      </p:pic>
      <p:sp>
        <p:nvSpPr>
          <p:cNvPr id="7" name="Text 4"/>
          <p:cNvSpPr/>
          <p:nvPr/>
        </p:nvSpPr>
        <p:spPr>
          <a:xfrm>
            <a:off x="850879" y="2437924"/>
            <a:ext cx="2349441"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ArrayList / List</a:t>
            </a:r>
            <a:endParaRPr lang="en-US" sz="1450" dirty="0"/>
          </a:p>
        </p:txBody>
      </p:sp>
      <p:sp>
        <p:nvSpPr>
          <p:cNvPr id="8" name="Text 5"/>
          <p:cNvSpPr/>
          <p:nvPr/>
        </p:nvSpPr>
        <p:spPr>
          <a:xfrm>
            <a:off x="850879" y="2785566"/>
            <a:ext cx="2349441" cy="248841"/>
          </a:xfrm>
          <a:prstGeom prst="rect">
            <a:avLst/>
          </a:prstGeom>
          <a:noFill/>
          <a:ln/>
        </p:spPr>
        <p:txBody>
          <a:bodyPr wrap="none" lIns="0" tIns="0" rIns="0" bIns="0" rtlCol="0" anchor="t"/>
          <a:lstStyle/>
          <a:p>
            <a:pPr algn="l" indent="0" marL="0">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120"/>
              </a:rPr>
              <a:t>Ordered data storage</a:t>
            </a:r>
            <a:endParaRPr lang="en-US" sz="1400" dirty="0"/>
          </a:p>
        </p:txBody>
      </p:sp>
      <p:pic>
        <p:nvPicPr>
          <p:cNvPr id="9" name="Image 1" descr="preencoded.png">    </p:cNvPr>
          <p:cNvPicPr>
            <a:picLocks noChangeAspect="1"/>
          </p:cNvPicPr>
          <p:nvPr/>
        </p:nvPicPr>
        <p:blipFill>
          <a:blip r:embed="rId2"/>
          <a:stretch>
            <a:fillRect/>
          </a:stretch>
        </p:blipFill>
        <p:spPr>
          <a:xfrm>
            <a:off x="3352716" y="1878806"/>
            <a:ext cx="444489" cy="444500"/>
          </a:xfrm>
          <a:prstGeom prst="rect">
            <a:avLst/>
          </a:prstGeom>
        </p:spPr>
      </p:pic>
      <p:sp>
        <p:nvSpPr>
          <p:cNvPr id="10" name="Text 6"/>
          <p:cNvSpPr/>
          <p:nvPr/>
        </p:nvSpPr>
        <p:spPr>
          <a:xfrm>
            <a:off x="3352716" y="2437924"/>
            <a:ext cx="2349441"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HashSet / Set</a:t>
            </a:r>
            <a:endParaRPr lang="en-US" sz="1450" dirty="0"/>
          </a:p>
        </p:txBody>
      </p:sp>
      <p:sp>
        <p:nvSpPr>
          <p:cNvPr id="11" name="Text 7"/>
          <p:cNvSpPr/>
          <p:nvPr/>
        </p:nvSpPr>
        <p:spPr>
          <a:xfrm>
            <a:off x="3352716" y="2785566"/>
            <a:ext cx="2349441" cy="248841"/>
          </a:xfrm>
          <a:prstGeom prst="rect">
            <a:avLst/>
          </a:prstGeom>
          <a:noFill/>
          <a:ln/>
        </p:spPr>
        <p:txBody>
          <a:bodyPr wrap="none" lIns="0" tIns="0" rIns="0" bIns="0" rtlCol="0" anchor="t"/>
          <a:lstStyle/>
          <a:p>
            <a:pPr algn="l" indent="0" marL="0">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120"/>
              </a:rPr>
              <a:t>Unique skill tracking</a:t>
            </a:r>
            <a:endParaRPr lang="en-US" sz="1400" dirty="0"/>
          </a:p>
        </p:txBody>
      </p:sp>
      <p:pic>
        <p:nvPicPr>
          <p:cNvPr id="12" name="Image 2" descr="preencoded.png">    </p:cNvPr>
          <p:cNvPicPr>
            <a:picLocks noChangeAspect="1"/>
          </p:cNvPicPr>
          <p:nvPr/>
        </p:nvPicPr>
        <p:blipFill>
          <a:blip r:embed="rId3"/>
          <a:stretch>
            <a:fillRect/>
          </a:stretch>
        </p:blipFill>
        <p:spPr>
          <a:xfrm>
            <a:off x="850879" y="3942953"/>
            <a:ext cx="444489" cy="444500"/>
          </a:xfrm>
          <a:prstGeom prst="rect">
            <a:avLst/>
          </a:prstGeom>
        </p:spPr>
      </p:pic>
      <p:sp>
        <p:nvSpPr>
          <p:cNvPr id="13" name="Text 8"/>
          <p:cNvSpPr/>
          <p:nvPr/>
        </p:nvSpPr>
        <p:spPr>
          <a:xfrm>
            <a:off x="850879" y="4502071"/>
            <a:ext cx="2349441"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HashMap / Map</a:t>
            </a:r>
            <a:endParaRPr lang="en-US" sz="1450" dirty="0"/>
          </a:p>
        </p:txBody>
      </p:sp>
      <p:sp>
        <p:nvSpPr>
          <p:cNvPr id="14" name="Text 9"/>
          <p:cNvSpPr/>
          <p:nvPr/>
        </p:nvSpPr>
        <p:spPr>
          <a:xfrm>
            <a:off x="850879" y="4849713"/>
            <a:ext cx="2349441" cy="248841"/>
          </a:xfrm>
          <a:prstGeom prst="rect">
            <a:avLst/>
          </a:prstGeom>
          <a:noFill/>
          <a:ln/>
        </p:spPr>
        <p:txBody>
          <a:bodyPr wrap="none" lIns="0" tIns="0" rIns="0" bIns="0" rtlCol="0" anchor="t"/>
          <a:lstStyle/>
          <a:p>
            <a:pPr algn="l" indent="0" marL="0">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120"/>
              </a:rPr>
              <a:t>Fast lookup</a:t>
            </a:r>
            <a:endParaRPr lang="en-US" sz="1400" dirty="0"/>
          </a:p>
        </p:txBody>
      </p:sp>
      <p:pic>
        <p:nvPicPr>
          <p:cNvPr id="15" name="Image 3" descr="preencoded.png">    </p:cNvPr>
          <p:cNvPicPr>
            <a:picLocks noChangeAspect="1"/>
          </p:cNvPicPr>
          <p:nvPr/>
        </p:nvPicPr>
        <p:blipFill>
          <a:blip r:embed="rId4"/>
          <a:stretch>
            <a:fillRect/>
          </a:stretch>
        </p:blipFill>
        <p:spPr>
          <a:xfrm>
            <a:off x="3352716" y="3942953"/>
            <a:ext cx="444489" cy="444500"/>
          </a:xfrm>
          <a:prstGeom prst="rect">
            <a:avLst/>
          </a:prstGeom>
        </p:spPr>
      </p:pic>
      <p:sp>
        <p:nvSpPr>
          <p:cNvPr id="16" name="Text 10"/>
          <p:cNvSpPr/>
          <p:nvPr/>
        </p:nvSpPr>
        <p:spPr>
          <a:xfrm>
            <a:off x="3352716" y="4502071"/>
            <a:ext cx="2349441"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Queue / LinkedList</a:t>
            </a:r>
            <a:endParaRPr lang="en-US" sz="1450" dirty="0"/>
          </a:p>
        </p:txBody>
      </p:sp>
      <p:sp>
        <p:nvSpPr>
          <p:cNvPr id="17" name="Text 11"/>
          <p:cNvSpPr/>
          <p:nvPr/>
        </p:nvSpPr>
        <p:spPr>
          <a:xfrm>
            <a:off x="3352716" y="4849713"/>
            <a:ext cx="2349441"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120"/>
              </a:rPr>
              <a:t>Processing and search support</a:t>
            </a:r>
            <a:endParaRPr lang="en-US" sz="1400" dirty="0"/>
          </a:p>
        </p:txBody>
      </p:sp>
      <p:sp>
        <p:nvSpPr>
          <p:cNvPr id="18" name="Shape 12"/>
          <p:cNvSpPr/>
          <p:nvPr/>
        </p:nvSpPr>
        <p:spPr>
          <a:xfrm>
            <a:off x="6248244" y="1369616"/>
            <a:ext cx="5333867" cy="4726384"/>
          </a:xfrm>
          <a:prstGeom prst="roundRect">
            <a:avLst>
              <a:gd name="adj" fmla="val 1612"/>
            </a:avLst>
          </a:prstGeom>
          <a:solidFill>
            <a:srgbClr val="E8E5FA"/>
          </a:solidFill>
          <a:ln w="12700">
            <a:solidFill>
              <a:srgbClr val="4C3BCF"/>
            </a:solidFill>
            <a:prstDash val="solid"/>
          </a:ln>
        </p:spPr>
      </p:sp>
      <p:sp>
        <p:nvSpPr>
          <p:cNvPr id="19" name="Text 13"/>
          <p:cNvSpPr/>
          <p:nvPr/>
        </p:nvSpPr>
        <p:spPr>
          <a:xfrm>
            <a:off x="6489538" y="1614091"/>
            <a:ext cx="5092573" cy="159941"/>
          </a:xfrm>
          <a:prstGeom prst="rect">
            <a:avLst/>
          </a:prstGeom>
          <a:noFill/>
          <a:ln/>
        </p:spPr>
        <p:txBody>
          <a:bodyPr wrap="none" lIns="0" tIns="0" rIns="0" bIns="0" rtlCol="0" anchor="t"/>
          <a:lstStyle/>
          <a:p>
            <a:pPr algn="l" indent="0" marL="0">
              <a:lnSpc>
                <a:spcPct val="100000"/>
              </a:lnSpc>
              <a:buNone/>
            </a:pPr>
            <a:r>
              <a:rPr lang="en-US" sz="1050" b="1" spc="63" kern="100" dirty="0">
                <a:solidFill>
                  <a:srgbClr val="000000"/>
                </a:solidFill>
                <a:latin typeface="B612 Mono Bold" pitchFamily="34" charset="0"/>
                <a:ea typeface="B612 Mono Bold" pitchFamily="34" charset="-122"/>
                <a:cs typeface="B612 Mono Bold" pitchFamily="34" charset="-120"/>
              </a:rPr>
              <a:t>ALGORITHMS</a:t>
            </a:r>
            <a:endParaRPr lang="en-US" sz="1050" dirty="0"/>
          </a:p>
        </p:txBody>
      </p:sp>
      <p:pic>
        <p:nvPicPr>
          <p:cNvPr id="20" name="Image 4" descr="preencoded.png">    </p:cNvPr>
          <p:cNvPicPr>
            <a:picLocks noChangeAspect="1"/>
          </p:cNvPicPr>
          <p:nvPr/>
        </p:nvPicPr>
        <p:blipFill>
          <a:blip r:embed="rId5"/>
          <a:stretch>
            <a:fillRect/>
          </a:stretch>
        </p:blipFill>
        <p:spPr>
          <a:xfrm>
            <a:off x="6489538" y="1878806"/>
            <a:ext cx="444489" cy="444500"/>
          </a:xfrm>
          <a:prstGeom prst="rect">
            <a:avLst/>
          </a:prstGeom>
        </p:spPr>
      </p:pic>
      <p:sp>
        <p:nvSpPr>
          <p:cNvPr id="21" name="Text 14"/>
          <p:cNvSpPr/>
          <p:nvPr/>
        </p:nvSpPr>
        <p:spPr>
          <a:xfrm>
            <a:off x="6489538" y="2437924"/>
            <a:ext cx="1540829" cy="220960"/>
          </a:xfrm>
          <a:prstGeom prst="rect">
            <a:avLst/>
          </a:prstGeom>
          <a:noFill/>
          <a:ln/>
        </p:spPr>
        <p:txBody>
          <a:bodyPr wrap="none" lIns="0" tIns="0" rIns="0" bIns="0" rtlCol="0" anchor="t"/>
          <a:lstStyle/>
          <a:p>
            <a:pPr algn="l" indent="0" marL="0">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120"/>
              </a:rPr>
              <a:t>KMP</a:t>
            </a:r>
            <a:endParaRPr lang="en-US" sz="1450" dirty="0"/>
          </a:p>
        </p:txBody>
      </p:sp>
      <p:sp>
        <p:nvSpPr>
          <p:cNvPr id="22" name="Text 15"/>
          <p:cNvSpPr/>
          <p:nvPr/>
        </p:nvSpPr>
        <p:spPr>
          <a:xfrm>
            <a:off x="6489538" y="2785566"/>
            <a:ext cx="1540829"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120"/>
              </a:rPr>
              <a:t>Exact string matching</a:t>
            </a:r>
            <a:endParaRPr lang="en-US" sz="1400" dirty="0"/>
          </a:p>
        </p:txBody>
      </p:sp>
      <p:pic>
        <p:nvPicPr>
          <p:cNvPr id="23" name="Image 5" descr="preencoded.png">    </p:cNvPr>
          <p:cNvPicPr>
            <a:picLocks noChangeAspect="1"/>
          </p:cNvPicPr>
          <p:nvPr/>
        </p:nvPicPr>
        <p:blipFill>
          <a:blip r:embed="rId6"/>
          <a:stretch>
            <a:fillRect/>
          </a:stretch>
        </p:blipFill>
        <p:spPr>
          <a:xfrm>
            <a:off x="8182762" y="1878806"/>
            <a:ext cx="444489" cy="444500"/>
          </a:xfrm>
          <a:prstGeom prst="rect">
            <a:avLst/>
          </a:prstGeom>
        </p:spPr>
      </p:pic>
      <p:sp>
        <p:nvSpPr>
          <p:cNvPr id="24" name="Text 16"/>
          <p:cNvSpPr/>
          <p:nvPr/>
        </p:nvSpPr>
        <p:spPr>
          <a:xfrm>
            <a:off x="8182762" y="2437924"/>
            <a:ext cx="1490129" cy="220960"/>
          </a:xfrm>
          <a:prstGeom prst="rect">
            <a:avLst/>
          </a:prstGeom>
          <a:noFill/>
          <a:ln/>
        </p:spPr>
        <p:txBody>
          <a:bodyPr wrap="none" lIns="0" tIns="0" rIns="0" bIns="0" rtlCol="0" anchor="t"/>
          <a:lstStyle/>
          <a:p>
            <a:pPr algn="l" indent="0" marL="0">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120"/>
              </a:rPr>
              <a:t>Aho–Corasick</a:t>
            </a:r>
            <a:endParaRPr lang="en-US" sz="1450" dirty="0"/>
          </a:p>
        </p:txBody>
      </p:sp>
      <p:sp>
        <p:nvSpPr>
          <p:cNvPr id="25" name="Text 17"/>
          <p:cNvSpPr/>
          <p:nvPr/>
        </p:nvSpPr>
        <p:spPr>
          <a:xfrm>
            <a:off x="8182762" y="2785566"/>
            <a:ext cx="1490129"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120"/>
              </a:rPr>
              <a:t>Multiple-skill matching</a:t>
            </a:r>
            <a:endParaRPr lang="en-US" sz="1400" dirty="0"/>
          </a:p>
        </p:txBody>
      </p:sp>
      <p:pic>
        <p:nvPicPr>
          <p:cNvPr id="26" name="Image 6" descr="preencoded.png">    </p:cNvPr>
          <p:cNvPicPr>
            <a:picLocks noChangeAspect="1"/>
          </p:cNvPicPr>
          <p:nvPr/>
        </p:nvPicPr>
        <p:blipFill>
          <a:blip r:embed="rId7"/>
          <a:stretch>
            <a:fillRect/>
          </a:stretch>
        </p:blipFill>
        <p:spPr>
          <a:xfrm>
            <a:off x="9825288" y="1878806"/>
            <a:ext cx="444489" cy="444500"/>
          </a:xfrm>
          <a:prstGeom prst="rect">
            <a:avLst/>
          </a:prstGeom>
        </p:spPr>
      </p:pic>
      <p:sp>
        <p:nvSpPr>
          <p:cNvPr id="27" name="Text 18"/>
          <p:cNvSpPr/>
          <p:nvPr/>
        </p:nvSpPr>
        <p:spPr>
          <a:xfrm>
            <a:off x="9825288" y="2437924"/>
            <a:ext cx="1515429" cy="220960"/>
          </a:xfrm>
          <a:prstGeom prst="rect">
            <a:avLst/>
          </a:prstGeom>
          <a:noFill/>
          <a:ln/>
        </p:spPr>
        <p:txBody>
          <a:bodyPr wrap="none" lIns="0" tIns="0" rIns="0" bIns="0" rtlCol="0" anchor="t"/>
          <a:lstStyle/>
          <a:p>
            <a:pPr algn="l" indent="0" marL="0">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120"/>
              </a:rPr>
              <a:t>Edit Distance</a:t>
            </a:r>
            <a:endParaRPr lang="en-US" sz="1450" dirty="0"/>
          </a:p>
        </p:txBody>
      </p:sp>
      <p:sp>
        <p:nvSpPr>
          <p:cNvPr id="28" name="Text 19"/>
          <p:cNvSpPr/>
          <p:nvPr/>
        </p:nvSpPr>
        <p:spPr>
          <a:xfrm>
            <a:off x="9825288" y="2785566"/>
            <a:ext cx="1515429"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120"/>
              </a:rPr>
              <a:t>Close or fuzzy matching</a:t>
            </a:r>
            <a:endParaRPr lang="en-US" sz="1400" dirty="0"/>
          </a:p>
        </p:txBody>
      </p:sp>
      <p:pic>
        <p:nvPicPr>
          <p:cNvPr id="29" name="Image 7" descr="preencoded.png">    </p:cNvPr>
          <p:cNvPicPr>
            <a:picLocks noChangeAspect="1"/>
          </p:cNvPicPr>
          <p:nvPr/>
        </p:nvPicPr>
        <p:blipFill>
          <a:blip r:embed="rId8"/>
          <a:stretch>
            <a:fillRect/>
          </a:stretch>
        </p:blipFill>
        <p:spPr>
          <a:xfrm>
            <a:off x="6489538" y="3942953"/>
            <a:ext cx="444489" cy="444500"/>
          </a:xfrm>
          <a:prstGeom prst="rect">
            <a:avLst/>
          </a:prstGeom>
        </p:spPr>
      </p:pic>
      <p:sp>
        <p:nvSpPr>
          <p:cNvPr id="30" name="Text 20"/>
          <p:cNvSpPr/>
          <p:nvPr/>
        </p:nvSpPr>
        <p:spPr>
          <a:xfrm>
            <a:off x="6489538" y="4502071"/>
            <a:ext cx="1540829" cy="220960"/>
          </a:xfrm>
          <a:prstGeom prst="rect">
            <a:avLst/>
          </a:prstGeom>
          <a:noFill/>
          <a:ln/>
        </p:spPr>
        <p:txBody>
          <a:bodyPr wrap="none" lIns="0" tIns="0" rIns="0" bIns="0" rtlCol="0" anchor="t"/>
          <a:lstStyle/>
          <a:p>
            <a:pPr algn="l" indent="0" marL="0">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120"/>
              </a:rPr>
              <a:t>Sorting</a:t>
            </a:r>
            <a:endParaRPr lang="en-US" sz="1450" dirty="0"/>
          </a:p>
        </p:txBody>
      </p:sp>
      <p:sp>
        <p:nvSpPr>
          <p:cNvPr id="31" name="Text 21"/>
          <p:cNvSpPr/>
          <p:nvPr/>
        </p:nvSpPr>
        <p:spPr>
          <a:xfrm>
            <a:off x="6489538" y="4849713"/>
            <a:ext cx="1540829" cy="248841"/>
          </a:xfrm>
          <a:prstGeom prst="rect">
            <a:avLst/>
          </a:prstGeom>
          <a:noFill/>
          <a:ln/>
        </p:spPr>
        <p:txBody>
          <a:bodyPr wrap="none" lIns="0" tIns="0" rIns="0" bIns="0" rtlCol="0" anchor="t"/>
          <a:lstStyle/>
          <a:p>
            <a:pPr algn="l" indent="0" marL="0">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120"/>
              </a:rPr>
              <a:t>Candidate ranking</a:t>
            </a:r>
            <a:endParaRPr lang="en-US" sz="1400" dirty="0"/>
          </a:p>
        </p:txBody>
      </p:sp>
      <p:pic>
        <p:nvPicPr>
          <p:cNvPr id="32" name="Image 8" descr="preencoded.png">    </p:cNvPr>
          <p:cNvPicPr>
            <a:picLocks noChangeAspect="1"/>
          </p:cNvPicPr>
          <p:nvPr/>
        </p:nvPicPr>
        <p:blipFill>
          <a:blip r:embed="rId9"/>
          <a:stretch>
            <a:fillRect/>
          </a:stretch>
        </p:blipFill>
        <p:spPr>
          <a:xfrm>
            <a:off x="8182762" y="3942953"/>
            <a:ext cx="444489" cy="444500"/>
          </a:xfrm>
          <a:prstGeom prst="rect">
            <a:avLst/>
          </a:prstGeom>
        </p:spPr>
      </p:pic>
      <p:sp>
        <p:nvSpPr>
          <p:cNvPr id="33" name="Text 22"/>
          <p:cNvSpPr/>
          <p:nvPr/>
        </p:nvSpPr>
        <p:spPr>
          <a:xfrm>
            <a:off x="8182762" y="4502071"/>
            <a:ext cx="3157955" cy="220960"/>
          </a:xfrm>
          <a:prstGeom prst="rect">
            <a:avLst/>
          </a:prstGeom>
          <a:noFill/>
          <a:ln/>
        </p:spPr>
        <p:txBody>
          <a:bodyPr wrap="none" lIns="0" tIns="0" rIns="0" bIns="0" rtlCol="0" anchor="t"/>
          <a:lstStyle/>
          <a:p>
            <a:pPr algn="l" indent="0" marL="0">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120"/>
              </a:rPr>
              <a:t>Hashing</a:t>
            </a:r>
            <a:endParaRPr lang="en-US" sz="1450" dirty="0"/>
          </a:p>
        </p:txBody>
      </p:sp>
      <p:sp>
        <p:nvSpPr>
          <p:cNvPr id="34" name="Text 23"/>
          <p:cNvSpPr/>
          <p:nvPr/>
        </p:nvSpPr>
        <p:spPr>
          <a:xfrm>
            <a:off x="8182762" y="4849713"/>
            <a:ext cx="3157955" cy="248841"/>
          </a:xfrm>
          <a:prstGeom prst="rect">
            <a:avLst/>
          </a:prstGeom>
          <a:noFill/>
          <a:ln/>
        </p:spPr>
        <p:txBody>
          <a:bodyPr wrap="none" lIns="0" tIns="0" rIns="0" bIns="0" rtlCol="0" anchor="t"/>
          <a:lstStyle/>
          <a:p>
            <a:pPr algn="l" indent="0" marL="0">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120"/>
              </a:rPr>
              <a:t>Duplicate detection</a:t>
            </a:r>
            <a:endParaRPr lang="en-US" sz="1400" dirty="0"/>
          </a:p>
        </p:txBody>
      </p:sp>
      <p:pic>
        <p:nvPicPr>
          <p:cNvPr id="35" name="Image 9" descr="preencoded.png">    </p:cNvPr>
          <p:cNvPicPr>
            <a:picLocks noChangeAspect="1"/>
          </p:cNvPicPr>
          <p:nvPr/>
        </p:nvPicPr>
        <p:blipFill>
          <a:blip r:embed="rId10"/>
          <a:stretch>
            <a:fillRect/>
          </a:stretch>
        </p:blipFill>
        <p:spPr>
          <a:xfrm>
            <a:off x="609585" y="6350000"/>
            <a:ext cx="10972526" cy="63500"/>
          </a:xfrm>
          <a:prstGeom prst="rect">
            <a:avLst/>
          </a:prstGeom>
        </p:spPr>
      </p:pic>
      <p:sp>
        <p:nvSpPr>
          <p:cNvPr id="36" name="Text 24"/>
          <p:cNvSpPr/>
          <p:nvPr/>
        </p:nvSpPr>
        <p:spPr>
          <a:xfrm>
            <a:off x="172438" y="6481465"/>
            <a:ext cx="2836792"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AI RESUME SCREENING SYSTEM</a:t>
            </a:r>
            <a:endParaRPr lang="en-US" sz="950" dirty="0"/>
          </a:p>
        </p:txBody>
      </p:sp>
      <p:sp>
        <p:nvSpPr>
          <p:cNvPr id="37" name="Text 25"/>
          <p:cNvSpPr/>
          <p:nvPr/>
        </p:nvSpPr>
        <p:spPr>
          <a:xfrm>
            <a:off x="11419495" y="6481465"/>
            <a:ext cx="772200"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04 / 10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algn="l" indent="0" marL="0">
              <a:lnSpc>
                <a:spcPct val="100000"/>
              </a:lnSpc>
              <a:buNone/>
            </a:pPr>
            <a:r>
              <a:rPr lang="en-US" sz="1050" spc="84" kern="100" dirty="0">
                <a:solidFill>
                  <a:srgbClr val="5B6570"/>
                </a:solidFill>
                <a:latin typeface="B612 Mono" pitchFamily="34" charset="0"/>
                <a:ea typeface="B612 Mono" pitchFamily="34" charset="-122"/>
                <a:cs typeface="B612 Mono" pitchFamily="34" charset="-120"/>
              </a:rPr>
              <a:t>MATCHING LOGIC</a:t>
            </a:r>
            <a:endParaRPr lang="en-US" sz="1050" dirty="0"/>
          </a:p>
        </p:txBody>
      </p:sp>
      <p:sp>
        <p:nvSpPr>
          <p:cNvPr id="3" name="Text 1"/>
          <p:cNvSpPr/>
          <p:nvPr/>
        </p:nvSpPr>
        <p:spPr>
          <a:xfrm>
            <a:off x="609585" y="858440"/>
            <a:ext cx="10972526" cy="349250"/>
          </a:xfrm>
          <a:prstGeom prst="rect">
            <a:avLst/>
          </a:prstGeom>
          <a:noFill/>
          <a:ln/>
        </p:spPr>
        <p:txBody>
          <a:bodyPr wrap="none" lIns="0" tIns="0" rIns="0" bIns="0" rtlCol="0" anchor="t"/>
          <a:lstStyle/>
          <a:p>
            <a:pPr algn="l" indent="0" marL="0">
              <a:lnSpc>
                <a:spcPct val="92000"/>
              </a:lnSpc>
              <a:buNone/>
            </a:pPr>
            <a:r>
              <a:rPr lang="en-US" sz="2500" b="1" spc="-25" kern="100" dirty="0">
                <a:solidFill>
                  <a:srgbClr val="1A1F26"/>
                </a:solidFill>
                <a:latin typeface="B612 Bold" pitchFamily="34" charset="0"/>
                <a:ea typeface="B612 Bold" pitchFamily="34" charset="-122"/>
                <a:cs typeface="B612 Bold" pitchFamily="34" charset="-120"/>
              </a:rPr>
              <a:t>Exact matches lead; fuzzy matches recover close skills</a:t>
            </a:r>
            <a:endParaRPr lang="en-US" sz="2500" dirty="0"/>
          </a:p>
        </p:txBody>
      </p:sp>
      <p:sp>
        <p:nvSpPr>
          <p:cNvPr id="4" name="Shape 2"/>
          <p:cNvSpPr/>
          <p:nvPr/>
        </p:nvSpPr>
        <p:spPr>
          <a:xfrm>
            <a:off x="609585" y="1395016"/>
            <a:ext cx="1950691" cy="4334669"/>
          </a:xfrm>
          <a:prstGeom prst="roundRect">
            <a:avLst>
              <a:gd name="adj" fmla="val 3906"/>
            </a:avLst>
          </a:prstGeom>
          <a:noFill/>
          <a:ln w="12700">
            <a:solidFill>
              <a:srgbClr val="1A1F26"/>
            </a:solidFill>
            <a:prstDash val="solid"/>
          </a:ln>
        </p:spPr>
      </p:sp>
      <p:sp>
        <p:nvSpPr>
          <p:cNvPr id="5" name="Text 3"/>
          <p:cNvSpPr/>
          <p:nvPr/>
        </p:nvSpPr>
        <p:spPr>
          <a:xfrm>
            <a:off x="850879" y="1636316"/>
            <a:ext cx="802759" cy="177800"/>
          </a:xfrm>
          <a:prstGeom prst="rect">
            <a:avLst/>
          </a:prstGeom>
          <a:noFill/>
          <a:ln/>
        </p:spPr>
        <p:txBody>
          <a:bodyPr wrap="none" lIns="0" tIns="0" rIns="0" bIns="0" rtlCol="0" anchor="t"/>
          <a:lstStyle/>
          <a:p>
            <a:pPr algn="l" indent="0" marL="0">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120"/>
              </a:rPr>
              <a:t>01</a:t>
            </a:r>
            <a:endParaRPr lang="en-US" sz="1400" dirty="0"/>
          </a:p>
        </p:txBody>
      </p:sp>
      <p:sp>
        <p:nvSpPr>
          <p:cNvPr id="6" name="Shape 4"/>
          <p:cNvSpPr/>
          <p:nvPr/>
        </p:nvSpPr>
        <p:spPr>
          <a:xfrm>
            <a:off x="850879" y="1885255"/>
            <a:ext cx="1468004" cy="19050"/>
          </a:xfrm>
          <a:prstGeom prst="rect">
            <a:avLst/>
          </a:prstGeom>
          <a:solidFill>
            <a:srgbClr val="4C3BCF"/>
          </a:solidFill>
          <a:ln/>
        </p:spPr>
      </p:sp>
      <p:sp>
        <p:nvSpPr>
          <p:cNvPr id="7" name="Text 5"/>
          <p:cNvSpPr/>
          <p:nvPr/>
        </p:nvSpPr>
        <p:spPr>
          <a:xfrm>
            <a:off x="850879" y="2017633"/>
            <a:ext cx="1468103" cy="441920"/>
          </a:xfrm>
          <a:prstGeom prst="rect">
            <a:avLst/>
          </a:prstGeom>
          <a:noFill/>
          <a:ln/>
        </p:spPr>
        <p:txBody>
          <a:bodyPr wrap="square" lIns="0" tIns="0" rIns="0" bIns="0" rtlCol="0" anchor="t">
            <a:normAutofit/>
          </a:bodyPr>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Read a required skill</a:t>
            </a:r>
            <a:endParaRPr lang="en-US" sz="1450" dirty="0"/>
          </a:p>
        </p:txBody>
      </p:sp>
      <p:sp>
        <p:nvSpPr>
          <p:cNvPr id="8" name="Text 6"/>
          <p:cNvSpPr/>
          <p:nvPr/>
        </p:nvSpPr>
        <p:spPr>
          <a:xfrm>
            <a:off x="850879" y="2586236"/>
            <a:ext cx="1468103" cy="746522"/>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120"/>
              </a:rPr>
              <a:t>Take one skill from the job requirements.</a:t>
            </a:r>
            <a:endParaRPr lang="en-US" sz="1400" dirty="0"/>
          </a:p>
        </p:txBody>
      </p:sp>
      <p:sp>
        <p:nvSpPr>
          <p:cNvPr id="9" name="Shape 7"/>
          <p:cNvSpPr/>
          <p:nvPr/>
        </p:nvSpPr>
        <p:spPr>
          <a:xfrm>
            <a:off x="2864969" y="1395016"/>
            <a:ext cx="1950691" cy="4334669"/>
          </a:xfrm>
          <a:prstGeom prst="roundRect">
            <a:avLst>
              <a:gd name="adj" fmla="val 3906"/>
            </a:avLst>
          </a:prstGeom>
          <a:noFill/>
          <a:ln w="12700">
            <a:solidFill>
              <a:srgbClr val="1A1F26"/>
            </a:solidFill>
            <a:prstDash val="solid"/>
          </a:ln>
        </p:spPr>
      </p:sp>
      <p:sp>
        <p:nvSpPr>
          <p:cNvPr id="10" name="Text 8"/>
          <p:cNvSpPr/>
          <p:nvPr/>
        </p:nvSpPr>
        <p:spPr>
          <a:xfrm>
            <a:off x="3106263" y="1636316"/>
            <a:ext cx="827464" cy="177800"/>
          </a:xfrm>
          <a:prstGeom prst="rect">
            <a:avLst/>
          </a:prstGeom>
          <a:noFill/>
          <a:ln/>
        </p:spPr>
        <p:txBody>
          <a:bodyPr wrap="none" lIns="0" tIns="0" rIns="0" bIns="0" rtlCol="0" anchor="t"/>
          <a:lstStyle/>
          <a:p>
            <a:pPr algn="l" indent="0" marL="0">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120"/>
              </a:rPr>
              <a:t>02</a:t>
            </a:r>
            <a:endParaRPr lang="en-US" sz="1400" dirty="0"/>
          </a:p>
        </p:txBody>
      </p:sp>
      <p:sp>
        <p:nvSpPr>
          <p:cNvPr id="11" name="Shape 9"/>
          <p:cNvSpPr/>
          <p:nvPr/>
        </p:nvSpPr>
        <p:spPr>
          <a:xfrm>
            <a:off x="3106263" y="1885255"/>
            <a:ext cx="1468004" cy="19050"/>
          </a:xfrm>
          <a:prstGeom prst="rect">
            <a:avLst/>
          </a:prstGeom>
          <a:solidFill>
            <a:srgbClr val="4C3BCF"/>
          </a:solidFill>
          <a:ln/>
        </p:spPr>
      </p:sp>
      <p:sp>
        <p:nvSpPr>
          <p:cNvPr id="12" name="Text 10"/>
          <p:cNvSpPr/>
          <p:nvPr/>
        </p:nvSpPr>
        <p:spPr>
          <a:xfrm>
            <a:off x="3106263" y="2017633"/>
            <a:ext cx="1468103" cy="441920"/>
          </a:xfrm>
          <a:prstGeom prst="rect">
            <a:avLst/>
          </a:prstGeom>
          <a:noFill/>
          <a:ln/>
        </p:spPr>
        <p:txBody>
          <a:bodyPr wrap="square" lIns="0" tIns="0" rIns="0" bIns="0" rtlCol="0" anchor="t">
            <a:normAutofit/>
          </a:bodyPr>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Check exact match</a:t>
            </a:r>
            <a:endParaRPr lang="en-US" sz="1450" dirty="0"/>
          </a:p>
        </p:txBody>
      </p:sp>
      <p:sp>
        <p:nvSpPr>
          <p:cNvPr id="13" name="Text 11"/>
          <p:cNvSpPr/>
          <p:nvPr/>
        </p:nvSpPr>
        <p:spPr>
          <a:xfrm>
            <a:off x="3106263" y="2586236"/>
            <a:ext cx="1468103" cy="746522"/>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120"/>
              </a:rPr>
              <a:t>Search the resume for the required term.</a:t>
            </a:r>
            <a:endParaRPr lang="en-US" sz="1400" dirty="0"/>
          </a:p>
        </p:txBody>
      </p:sp>
      <p:sp>
        <p:nvSpPr>
          <p:cNvPr id="14" name="Shape 12"/>
          <p:cNvSpPr/>
          <p:nvPr/>
        </p:nvSpPr>
        <p:spPr>
          <a:xfrm>
            <a:off x="5120353" y="1395016"/>
            <a:ext cx="1950889" cy="4334669"/>
          </a:xfrm>
          <a:prstGeom prst="roundRect">
            <a:avLst>
              <a:gd name="adj" fmla="val 3906"/>
            </a:avLst>
          </a:prstGeom>
          <a:solidFill>
            <a:srgbClr val="E8E5FA"/>
          </a:solidFill>
          <a:ln w="12700">
            <a:solidFill>
              <a:srgbClr val="4C3BCF"/>
            </a:solidFill>
            <a:prstDash val="solid"/>
          </a:ln>
        </p:spPr>
      </p:sp>
      <p:sp>
        <p:nvSpPr>
          <p:cNvPr id="15" name="Text 13"/>
          <p:cNvSpPr/>
          <p:nvPr/>
        </p:nvSpPr>
        <p:spPr>
          <a:xfrm>
            <a:off x="5361647" y="1636316"/>
            <a:ext cx="831532" cy="177800"/>
          </a:xfrm>
          <a:prstGeom prst="rect">
            <a:avLst/>
          </a:prstGeom>
          <a:noFill/>
          <a:ln/>
        </p:spPr>
        <p:txBody>
          <a:bodyPr wrap="none" lIns="0" tIns="0" rIns="0" bIns="0" rtlCol="0" anchor="t"/>
          <a:lstStyle/>
          <a:p>
            <a:pPr algn="l" indent="0" marL="0">
              <a:lnSpc>
                <a:spcPct val="83000"/>
              </a:lnSpc>
              <a:buNone/>
            </a:pPr>
            <a:r>
              <a:rPr lang="en-US" sz="1400" dirty="0">
                <a:solidFill>
                  <a:srgbClr val="000000"/>
                </a:solidFill>
                <a:latin typeface="Atkinson Hyperlegible Next SemiBold" pitchFamily="34" charset="0"/>
                <a:ea typeface="Atkinson Hyperlegible Next SemiBold" pitchFamily="34" charset="-122"/>
                <a:cs typeface="Atkinson Hyperlegible Next SemiBold" pitchFamily="34" charset="-120"/>
              </a:rPr>
              <a:t>03</a:t>
            </a:r>
            <a:endParaRPr lang="en-US" sz="1400" dirty="0"/>
          </a:p>
        </p:txBody>
      </p:sp>
      <p:sp>
        <p:nvSpPr>
          <p:cNvPr id="16" name="Shape 14"/>
          <p:cNvSpPr/>
          <p:nvPr/>
        </p:nvSpPr>
        <p:spPr>
          <a:xfrm>
            <a:off x="5361647" y="1885255"/>
            <a:ext cx="1468202" cy="19050"/>
          </a:xfrm>
          <a:prstGeom prst="rect">
            <a:avLst/>
          </a:prstGeom>
          <a:solidFill>
            <a:srgbClr val="4C3BCF"/>
          </a:solidFill>
          <a:ln/>
        </p:spPr>
      </p:sp>
      <p:sp>
        <p:nvSpPr>
          <p:cNvPr id="17" name="Text 15"/>
          <p:cNvSpPr/>
          <p:nvPr/>
        </p:nvSpPr>
        <p:spPr>
          <a:xfrm>
            <a:off x="5361647" y="2017633"/>
            <a:ext cx="1468302" cy="441920"/>
          </a:xfrm>
          <a:prstGeom prst="rect">
            <a:avLst/>
          </a:prstGeom>
          <a:noFill/>
          <a:ln/>
        </p:spPr>
        <p:txBody>
          <a:bodyPr wrap="square" lIns="0" tIns="0" rIns="0" bIns="0" rtlCol="0" anchor="t">
            <a:normAutofit/>
          </a:bodyPr>
          <a:lstStyle/>
          <a:p>
            <a:pPr algn="l" indent="0" marL="0">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120"/>
              </a:rPr>
              <a:t>Recover close skills</a:t>
            </a:r>
            <a:endParaRPr lang="en-US" sz="1450" dirty="0"/>
          </a:p>
        </p:txBody>
      </p:sp>
      <p:sp>
        <p:nvSpPr>
          <p:cNvPr id="18" name="Text 16"/>
          <p:cNvSpPr/>
          <p:nvPr/>
        </p:nvSpPr>
        <p:spPr>
          <a:xfrm>
            <a:off x="5361647" y="2586236"/>
            <a:ext cx="1468302" cy="746522"/>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120"/>
              </a:rPr>
              <a:t>If absent, run similarity and Edit Distance checks.</a:t>
            </a:r>
            <a:endParaRPr lang="en-US" sz="1400" dirty="0"/>
          </a:p>
        </p:txBody>
      </p:sp>
      <p:sp>
        <p:nvSpPr>
          <p:cNvPr id="19" name="Shape 17"/>
          <p:cNvSpPr/>
          <p:nvPr/>
        </p:nvSpPr>
        <p:spPr>
          <a:xfrm>
            <a:off x="7375936" y="1395016"/>
            <a:ext cx="1950691" cy="4334669"/>
          </a:xfrm>
          <a:prstGeom prst="roundRect">
            <a:avLst>
              <a:gd name="adj" fmla="val 3906"/>
            </a:avLst>
          </a:prstGeom>
          <a:noFill/>
          <a:ln w="12700">
            <a:solidFill>
              <a:srgbClr val="1A1F26"/>
            </a:solidFill>
            <a:prstDash val="solid"/>
          </a:ln>
        </p:spPr>
      </p:sp>
      <p:sp>
        <p:nvSpPr>
          <p:cNvPr id="20" name="Text 18"/>
          <p:cNvSpPr/>
          <p:nvPr/>
        </p:nvSpPr>
        <p:spPr>
          <a:xfrm>
            <a:off x="7617230" y="1636316"/>
            <a:ext cx="836691" cy="177800"/>
          </a:xfrm>
          <a:prstGeom prst="rect">
            <a:avLst/>
          </a:prstGeom>
          <a:noFill/>
          <a:ln/>
        </p:spPr>
        <p:txBody>
          <a:bodyPr wrap="none" lIns="0" tIns="0" rIns="0" bIns="0" rtlCol="0" anchor="t"/>
          <a:lstStyle/>
          <a:p>
            <a:pPr algn="l" indent="0" marL="0">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120"/>
              </a:rPr>
              <a:t>04</a:t>
            </a:r>
            <a:endParaRPr lang="en-US" sz="1400" dirty="0"/>
          </a:p>
        </p:txBody>
      </p:sp>
      <p:sp>
        <p:nvSpPr>
          <p:cNvPr id="21" name="Shape 19"/>
          <p:cNvSpPr/>
          <p:nvPr/>
        </p:nvSpPr>
        <p:spPr>
          <a:xfrm>
            <a:off x="7617230" y="1885255"/>
            <a:ext cx="1468004" cy="19050"/>
          </a:xfrm>
          <a:prstGeom prst="rect">
            <a:avLst/>
          </a:prstGeom>
          <a:solidFill>
            <a:srgbClr val="4C3BCF"/>
          </a:solidFill>
          <a:ln/>
        </p:spPr>
      </p:sp>
      <p:sp>
        <p:nvSpPr>
          <p:cNvPr id="22" name="Text 20"/>
          <p:cNvSpPr/>
          <p:nvPr/>
        </p:nvSpPr>
        <p:spPr>
          <a:xfrm>
            <a:off x="7617230" y="2017633"/>
            <a:ext cx="1468103"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Classify</a:t>
            </a:r>
            <a:endParaRPr lang="en-US" sz="1450" dirty="0"/>
          </a:p>
        </p:txBody>
      </p:sp>
      <p:sp>
        <p:nvSpPr>
          <p:cNvPr id="23" name="Text 21"/>
          <p:cNvSpPr/>
          <p:nvPr/>
        </p:nvSpPr>
        <p:spPr>
          <a:xfrm>
            <a:off x="7617230" y="2365276"/>
            <a:ext cx="1468103" cy="746522"/>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120"/>
              </a:rPr>
              <a:t>Mark the skill as close match or missing.</a:t>
            </a:r>
            <a:endParaRPr lang="en-US" sz="1400" dirty="0"/>
          </a:p>
        </p:txBody>
      </p:sp>
      <p:sp>
        <p:nvSpPr>
          <p:cNvPr id="24" name="Shape 22"/>
          <p:cNvSpPr/>
          <p:nvPr/>
        </p:nvSpPr>
        <p:spPr>
          <a:xfrm>
            <a:off x="9631320" y="1395016"/>
            <a:ext cx="1950790" cy="4334669"/>
          </a:xfrm>
          <a:prstGeom prst="roundRect">
            <a:avLst>
              <a:gd name="adj" fmla="val 3906"/>
            </a:avLst>
          </a:prstGeom>
          <a:noFill/>
          <a:ln w="12700">
            <a:solidFill>
              <a:srgbClr val="1A1F26"/>
            </a:solidFill>
            <a:prstDash val="solid"/>
          </a:ln>
        </p:spPr>
      </p:sp>
      <p:sp>
        <p:nvSpPr>
          <p:cNvPr id="25" name="Text 23"/>
          <p:cNvSpPr/>
          <p:nvPr/>
        </p:nvSpPr>
        <p:spPr>
          <a:xfrm>
            <a:off x="9872614" y="1636316"/>
            <a:ext cx="833317" cy="177800"/>
          </a:xfrm>
          <a:prstGeom prst="rect">
            <a:avLst/>
          </a:prstGeom>
          <a:noFill/>
          <a:ln/>
        </p:spPr>
        <p:txBody>
          <a:bodyPr wrap="none" lIns="0" tIns="0" rIns="0" bIns="0" rtlCol="0" anchor="t"/>
          <a:lstStyle/>
          <a:p>
            <a:pPr algn="l" indent="0" marL="0">
              <a:lnSpc>
                <a:spcPct val="83000"/>
              </a:lnSpc>
              <a:buNone/>
            </a:pPr>
            <a:r>
              <a:rPr lang="en-US" sz="1400" dirty="0">
                <a:solidFill>
                  <a:srgbClr val="4C3BCF"/>
                </a:solidFill>
                <a:latin typeface="Atkinson Hyperlegible Next SemiBold" pitchFamily="34" charset="0"/>
                <a:ea typeface="Atkinson Hyperlegible Next SemiBold" pitchFamily="34" charset="-122"/>
                <a:cs typeface="Atkinson Hyperlegible Next SemiBold" pitchFamily="34" charset="-120"/>
              </a:rPr>
              <a:t>05</a:t>
            </a:r>
            <a:endParaRPr lang="en-US" sz="1400" dirty="0"/>
          </a:p>
        </p:txBody>
      </p:sp>
      <p:sp>
        <p:nvSpPr>
          <p:cNvPr id="26" name="Shape 24"/>
          <p:cNvSpPr/>
          <p:nvPr/>
        </p:nvSpPr>
        <p:spPr>
          <a:xfrm>
            <a:off x="9872614" y="1885255"/>
            <a:ext cx="1468202" cy="19050"/>
          </a:xfrm>
          <a:prstGeom prst="rect">
            <a:avLst/>
          </a:prstGeom>
          <a:solidFill>
            <a:srgbClr val="4C3BCF"/>
          </a:solidFill>
          <a:ln/>
        </p:spPr>
      </p:sp>
      <p:sp>
        <p:nvSpPr>
          <p:cNvPr id="27" name="Text 25"/>
          <p:cNvSpPr/>
          <p:nvPr/>
        </p:nvSpPr>
        <p:spPr>
          <a:xfrm>
            <a:off x="9872614" y="2017633"/>
            <a:ext cx="1468202"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Score and rank</a:t>
            </a:r>
            <a:endParaRPr lang="en-US" sz="1450" dirty="0"/>
          </a:p>
        </p:txBody>
      </p:sp>
      <p:sp>
        <p:nvSpPr>
          <p:cNvPr id="28" name="Text 26"/>
          <p:cNvSpPr/>
          <p:nvPr/>
        </p:nvSpPr>
        <p:spPr>
          <a:xfrm>
            <a:off x="9872614" y="2365276"/>
            <a:ext cx="1468202"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2A313A"/>
                </a:solidFill>
                <a:latin typeface="Atkinson Hyperlegible Next" pitchFamily="34" charset="0"/>
                <a:ea typeface="Atkinson Hyperlegible Next" pitchFamily="34" charset="-122"/>
                <a:cs typeface="Atkinson Hyperlegible Next" pitchFamily="34" charset="-120"/>
              </a:rPr>
              <a:t>Use the calculated matching score.</a:t>
            </a:r>
            <a:endParaRPr lang="en-US" sz="1400" dirty="0"/>
          </a:p>
        </p:txBody>
      </p:sp>
      <p:sp>
        <p:nvSpPr>
          <p:cNvPr id="29" name="Text 27"/>
          <p:cNvSpPr/>
          <p:nvPr/>
        </p:nvSpPr>
        <p:spPr>
          <a:xfrm>
            <a:off x="609585" y="5907484"/>
            <a:ext cx="11582110" cy="188516"/>
          </a:xfrm>
          <a:prstGeom prst="rect">
            <a:avLst/>
          </a:prstGeom>
          <a:noFill/>
          <a:ln/>
        </p:spPr>
        <p:txBody>
          <a:bodyPr wrap="none" lIns="0" tIns="0" rIns="0" bIns="0" rtlCol="0" anchor="t"/>
          <a:lstStyle/>
          <a:p>
            <a:pPr algn="l" indent="0" marL="0">
              <a:lnSpc>
                <a:spcPct val="112000"/>
              </a:lnSpc>
              <a:buNone/>
            </a:pPr>
            <a:r>
              <a:rPr lang="en-US" sz="1100" dirty="0">
                <a:solidFill>
                  <a:srgbClr val="5B6570"/>
                </a:solidFill>
                <a:latin typeface="Atkinson Hyperlegible Next" pitchFamily="34" charset="0"/>
                <a:ea typeface="Atkinson Hyperlegible Next" pitchFamily="34" charset="-122"/>
                <a:cs typeface="Atkinson Hyperlegible Next" pitchFamily="34" charset="-120"/>
              </a:rPr>
              <a:t>Ranking is based on the calculated matching score; no unsupported accuracy percentage is claimed.</a:t>
            </a:r>
            <a:endParaRPr lang="en-US" sz="1100" dirty="0"/>
          </a:p>
        </p:txBody>
      </p:sp>
      <p:pic>
        <p:nvPicPr>
          <p:cNvPr id="30" name="Image 0" descr="preencoded.png">    </p:cNvPr>
          <p:cNvPicPr>
            <a:picLocks noChangeAspect="1"/>
          </p:cNvPicPr>
          <p:nvPr/>
        </p:nvPicPr>
        <p:blipFill>
          <a:blip r:embed="rId1"/>
          <a:stretch>
            <a:fillRect/>
          </a:stretch>
        </p:blipFill>
        <p:spPr>
          <a:xfrm>
            <a:off x="609585" y="6350000"/>
            <a:ext cx="10972526" cy="63500"/>
          </a:xfrm>
          <a:prstGeom prst="rect">
            <a:avLst/>
          </a:prstGeom>
        </p:spPr>
      </p:pic>
      <p:sp>
        <p:nvSpPr>
          <p:cNvPr id="31" name="Text 28"/>
          <p:cNvSpPr/>
          <p:nvPr/>
        </p:nvSpPr>
        <p:spPr>
          <a:xfrm>
            <a:off x="172438" y="6481465"/>
            <a:ext cx="2836792"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AI RESUME SCREENING SYSTEM</a:t>
            </a:r>
            <a:endParaRPr lang="en-US" sz="950" dirty="0"/>
          </a:p>
        </p:txBody>
      </p:sp>
      <p:sp>
        <p:nvSpPr>
          <p:cNvPr id="32" name="Text 29"/>
          <p:cNvSpPr/>
          <p:nvPr/>
        </p:nvSpPr>
        <p:spPr>
          <a:xfrm>
            <a:off x="11419495" y="6481465"/>
            <a:ext cx="772200"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05 / 10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algn="l" indent="0" marL="0">
              <a:lnSpc>
                <a:spcPct val="100000"/>
              </a:lnSpc>
              <a:buNone/>
            </a:pPr>
            <a:r>
              <a:rPr lang="en-US" sz="1050" spc="84" kern="100" dirty="0">
                <a:solidFill>
                  <a:srgbClr val="5B6570"/>
                </a:solidFill>
                <a:latin typeface="B612 Mono" pitchFamily="34" charset="0"/>
                <a:ea typeface="B612 Mono" pitchFamily="34" charset="-122"/>
                <a:cs typeface="B612 Mono" pitchFamily="34" charset="-120"/>
              </a:rPr>
              <a:t>IMPLEMENTED WORKFLOW</a:t>
            </a:r>
            <a:endParaRPr lang="en-US" sz="1050" dirty="0"/>
          </a:p>
        </p:txBody>
      </p:sp>
      <p:sp>
        <p:nvSpPr>
          <p:cNvPr id="3" name="Text 1"/>
          <p:cNvSpPr/>
          <p:nvPr/>
        </p:nvSpPr>
        <p:spPr>
          <a:xfrm>
            <a:off x="609585" y="858440"/>
            <a:ext cx="10972526" cy="349250"/>
          </a:xfrm>
          <a:prstGeom prst="rect">
            <a:avLst/>
          </a:prstGeom>
          <a:noFill/>
          <a:ln/>
        </p:spPr>
        <p:txBody>
          <a:bodyPr wrap="none" lIns="0" tIns="0" rIns="0" bIns="0" rtlCol="0" anchor="t"/>
          <a:lstStyle/>
          <a:p>
            <a:pPr algn="l" indent="0" marL="0">
              <a:lnSpc>
                <a:spcPct val="92000"/>
              </a:lnSpc>
              <a:buNone/>
            </a:pPr>
            <a:r>
              <a:rPr lang="en-US" sz="2500" b="1" spc="-25" kern="100" dirty="0">
                <a:solidFill>
                  <a:srgbClr val="1A1F26"/>
                </a:solidFill>
                <a:latin typeface="B612 Bold" pitchFamily="34" charset="0"/>
                <a:ea typeface="B612 Bold" pitchFamily="34" charset="-122"/>
                <a:cs typeface="B612 Bold" pitchFamily="34" charset="-120"/>
              </a:rPr>
              <a:t>The implemented workflow handles the full screening loop</a:t>
            </a:r>
            <a:endParaRPr lang="en-US" sz="2500" dirty="0"/>
          </a:p>
        </p:txBody>
      </p:sp>
      <p:sp>
        <p:nvSpPr>
          <p:cNvPr id="4" name="Text 2"/>
          <p:cNvSpPr/>
          <p:nvPr/>
        </p:nvSpPr>
        <p:spPr>
          <a:xfrm>
            <a:off x="609585" y="1610519"/>
            <a:ext cx="840759" cy="177800"/>
          </a:xfrm>
          <a:prstGeom prst="rect">
            <a:avLst/>
          </a:prstGeom>
          <a:noFill/>
          <a:ln/>
        </p:spPr>
        <p:txBody>
          <a:bodyPr wrap="none" lIns="0" tIns="0" rIns="0" bIns="0" rtlCol="0" anchor="t"/>
          <a:lstStyle/>
          <a:p>
            <a:pPr algn="l" indent="0" marL="0">
              <a:lnSpc>
                <a:spcPct val="83000"/>
              </a:lnSpc>
              <a:buNone/>
            </a:pPr>
            <a:r>
              <a:rPr lang="en-US" sz="1400" dirty="0">
                <a:solidFill>
                  <a:srgbClr val="4C3BCF"/>
                </a:solidFill>
                <a:latin typeface="B612 Mono" pitchFamily="34" charset="0"/>
                <a:ea typeface="B612 Mono" pitchFamily="34" charset="-122"/>
                <a:cs typeface="B612 Mono" pitchFamily="34" charset="-120"/>
              </a:rPr>
              <a:t>01</a:t>
            </a:r>
            <a:endParaRPr lang="en-US" sz="1400" dirty="0"/>
          </a:p>
        </p:txBody>
      </p:sp>
      <p:sp>
        <p:nvSpPr>
          <p:cNvPr id="5" name="Text 3"/>
          <p:cNvSpPr/>
          <p:nvPr/>
        </p:nvSpPr>
        <p:spPr>
          <a:xfrm>
            <a:off x="1018554" y="1604883"/>
            <a:ext cx="10563556"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Job title and required skills input</a:t>
            </a:r>
            <a:endParaRPr lang="en-US" sz="1450" dirty="0"/>
          </a:p>
        </p:txBody>
      </p:sp>
      <p:sp>
        <p:nvSpPr>
          <p:cNvPr id="6" name="Text 4"/>
          <p:cNvSpPr/>
          <p:nvPr/>
        </p:nvSpPr>
        <p:spPr>
          <a:xfrm>
            <a:off x="609585" y="2330847"/>
            <a:ext cx="840759" cy="177800"/>
          </a:xfrm>
          <a:prstGeom prst="rect">
            <a:avLst/>
          </a:prstGeom>
          <a:noFill/>
          <a:ln/>
        </p:spPr>
        <p:txBody>
          <a:bodyPr wrap="none" lIns="0" tIns="0" rIns="0" bIns="0" rtlCol="0" anchor="t"/>
          <a:lstStyle/>
          <a:p>
            <a:pPr algn="l" indent="0" marL="0">
              <a:lnSpc>
                <a:spcPct val="83000"/>
              </a:lnSpc>
              <a:buNone/>
            </a:pPr>
            <a:r>
              <a:rPr lang="en-US" sz="1400" dirty="0">
                <a:solidFill>
                  <a:srgbClr val="4C3BCF"/>
                </a:solidFill>
                <a:latin typeface="B612 Mono" pitchFamily="34" charset="0"/>
                <a:ea typeface="B612 Mono" pitchFamily="34" charset="-122"/>
                <a:cs typeface="B612 Mono" pitchFamily="34" charset="-120"/>
              </a:rPr>
              <a:t>02</a:t>
            </a:r>
            <a:endParaRPr lang="en-US" sz="1400" dirty="0"/>
          </a:p>
        </p:txBody>
      </p:sp>
      <p:sp>
        <p:nvSpPr>
          <p:cNvPr id="7" name="Text 5"/>
          <p:cNvSpPr/>
          <p:nvPr/>
        </p:nvSpPr>
        <p:spPr>
          <a:xfrm>
            <a:off x="1018554" y="2325211"/>
            <a:ext cx="10563556"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Multiple resume upload</a:t>
            </a:r>
            <a:endParaRPr lang="en-US" sz="1450" dirty="0"/>
          </a:p>
        </p:txBody>
      </p:sp>
      <p:sp>
        <p:nvSpPr>
          <p:cNvPr id="8" name="Text 6"/>
          <p:cNvSpPr/>
          <p:nvPr/>
        </p:nvSpPr>
        <p:spPr>
          <a:xfrm>
            <a:off x="609585" y="3051175"/>
            <a:ext cx="840759" cy="177800"/>
          </a:xfrm>
          <a:prstGeom prst="rect">
            <a:avLst/>
          </a:prstGeom>
          <a:noFill/>
          <a:ln/>
        </p:spPr>
        <p:txBody>
          <a:bodyPr wrap="none" lIns="0" tIns="0" rIns="0" bIns="0" rtlCol="0" anchor="t"/>
          <a:lstStyle/>
          <a:p>
            <a:pPr algn="l" indent="0" marL="0">
              <a:lnSpc>
                <a:spcPct val="83000"/>
              </a:lnSpc>
              <a:buNone/>
            </a:pPr>
            <a:r>
              <a:rPr lang="en-US" sz="1400" dirty="0">
                <a:solidFill>
                  <a:srgbClr val="4C3BCF"/>
                </a:solidFill>
                <a:latin typeface="B612 Mono" pitchFamily="34" charset="0"/>
                <a:ea typeface="B612 Mono" pitchFamily="34" charset="-122"/>
                <a:cs typeface="B612 Mono" pitchFamily="34" charset="-120"/>
              </a:rPr>
              <a:t>03</a:t>
            </a:r>
            <a:endParaRPr lang="en-US" sz="1400" dirty="0"/>
          </a:p>
        </p:txBody>
      </p:sp>
      <p:sp>
        <p:nvSpPr>
          <p:cNvPr id="9" name="Text 7"/>
          <p:cNvSpPr/>
          <p:nvPr/>
        </p:nvSpPr>
        <p:spPr>
          <a:xfrm>
            <a:off x="1018554" y="3045539"/>
            <a:ext cx="10563556"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PDF, DOCX, and TXT processing</a:t>
            </a:r>
            <a:endParaRPr lang="en-US" sz="1450" dirty="0"/>
          </a:p>
        </p:txBody>
      </p:sp>
      <p:sp>
        <p:nvSpPr>
          <p:cNvPr id="10" name="Text 8"/>
          <p:cNvSpPr/>
          <p:nvPr/>
        </p:nvSpPr>
        <p:spPr>
          <a:xfrm>
            <a:off x="609585" y="3771503"/>
            <a:ext cx="840759" cy="177800"/>
          </a:xfrm>
          <a:prstGeom prst="rect">
            <a:avLst/>
          </a:prstGeom>
          <a:noFill/>
          <a:ln/>
        </p:spPr>
        <p:txBody>
          <a:bodyPr wrap="none" lIns="0" tIns="0" rIns="0" bIns="0" rtlCol="0" anchor="t"/>
          <a:lstStyle/>
          <a:p>
            <a:pPr algn="l" indent="0" marL="0">
              <a:lnSpc>
                <a:spcPct val="83000"/>
              </a:lnSpc>
              <a:buNone/>
            </a:pPr>
            <a:r>
              <a:rPr lang="en-US" sz="1400" dirty="0">
                <a:solidFill>
                  <a:srgbClr val="4C3BCF"/>
                </a:solidFill>
                <a:latin typeface="B612 Mono" pitchFamily="34" charset="0"/>
                <a:ea typeface="B612 Mono" pitchFamily="34" charset="-122"/>
                <a:cs typeface="B612 Mono" pitchFamily="34" charset="-120"/>
              </a:rPr>
              <a:t>04</a:t>
            </a:r>
            <a:endParaRPr lang="en-US" sz="1400" dirty="0"/>
          </a:p>
        </p:txBody>
      </p:sp>
      <p:sp>
        <p:nvSpPr>
          <p:cNvPr id="11" name="Text 9"/>
          <p:cNvSpPr/>
          <p:nvPr/>
        </p:nvSpPr>
        <p:spPr>
          <a:xfrm>
            <a:off x="1018554" y="3765868"/>
            <a:ext cx="10563556"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Resume text extraction and preprocessing</a:t>
            </a:r>
            <a:endParaRPr lang="en-US" sz="1450" dirty="0"/>
          </a:p>
        </p:txBody>
      </p:sp>
      <p:sp>
        <p:nvSpPr>
          <p:cNvPr id="12" name="Shape 10"/>
          <p:cNvSpPr/>
          <p:nvPr/>
        </p:nvSpPr>
        <p:spPr>
          <a:xfrm>
            <a:off x="609585" y="4250928"/>
            <a:ext cx="10972526" cy="720427"/>
          </a:xfrm>
          <a:prstGeom prst="rect">
            <a:avLst/>
          </a:prstGeom>
          <a:solidFill>
            <a:srgbClr val="E8E5FA"/>
          </a:solidFill>
          <a:ln/>
        </p:spPr>
      </p:sp>
      <p:sp>
        <p:nvSpPr>
          <p:cNvPr id="13" name="Text 11"/>
          <p:cNvSpPr/>
          <p:nvPr/>
        </p:nvSpPr>
        <p:spPr>
          <a:xfrm>
            <a:off x="838179" y="4491831"/>
            <a:ext cx="840759" cy="177800"/>
          </a:xfrm>
          <a:prstGeom prst="rect">
            <a:avLst/>
          </a:prstGeom>
          <a:noFill/>
          <a:ln/>
        </p:spPr>
        <p:txBody>
          <a:bodyPr wrap="none" lIns="0" tIns="0" rIns="0" bIns="0" rtlCol="0" anchor="t"/>
          <a:lstStyle/>
          <a:p>
            <a:pPr algn="l" indent="0" marL="0">
              <a:lnSpc>
                <a:spcPct val="83000"/>
              </a:lnSpc>
              <a:buNone/>
            </a:pPr>
            <a:r>
              <a:rPr lang="en-US" sz="1400" dirty="0">
                <a:solidFill>
                  <a:srgbClr val="4C3BCF"/>
                </a:solidFill>
                <a:latin typeface="B612 Mono" pitchFamily="34" charset="0"/>
                <a:ea typeface="B612 Mono" pitchFamily="34" charset="-122"/>
                <a:cs typeface="B612 Mono" pitchFamily="34" charset="-120"/>
              </a:rPr>
              <a:t>05</a:t>
            </a:r>
            <a:endParaRPr lang="en-US" sz="1400" dirty="0"/>
          </a:p>
        </p:txBody>
      </p:sp>
      <p:sp>
        <p:nvSpPr>
          <p:cNvPr id="14" name="Text 12"/>
          <p:cNvSpPr/>
          <p:nvPr/>
        </p:nvSpPr>
        <p:spPr>
          <a:xfrm>
            <a:off x="1247148" y="4486196"/>
            <a:ext cx="10106367" cy="220960"/>
          </a:xfrm>
          <a:prstGeom prst="rect">
            <a:avLst/>
          </a:prstGeom>
          <a:noFill/>
          <a:ln/>
        </p:spPr>
        <p:txBody>
          <a:bodyPr wrap="none" lIns="0" tIns="0" rIns="0" bIns="0" rtlCol="0" anchor="t"/>
          <a:lstStyle/>
          <a:p>
            <a:pPr algn="l" indent="0" marL="0">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120"/>
              </a:rPr>
              <a:t>DSA-based skill matching and score calculation</a:t>
            </a:r>
            <a:endParaRPr lang="en-US" sz="1450" dirty="0"/>
          </a:p>
        </p:txBody>
      </p:sp>
      <p:sp>
        <p:nvSpPr>
          <p:cNvPr id="15" name="Text 13"/>
          <p:cNvSpPr/>
          <p:nvPr/>
        </p:nvSpPr>
        <p:spPr>
          <a:xfrm>
            <a:off x="609585" y="5212259"/>
            <a:ext cx="840759" cy="177800"/>
          </a:xfrm>
          <a:prstGeom prst="rect">
            <a:avLst/>
          </a:prstGeom>
          <a:noFill/>
          <a:ln/>
        </p:spPr>
        <p:txBody>
          <a:bodyPr wrap="none" lIns="0" tIns="0" rIns="0" bIns="0" rtlCol="0" anchor="t"/>
          <a:lstStyle/>
          <a:p>
            <a:pPr algn="l" indent="0" marL="0">
              <a:lnSpc>
                <a:spcPct val="83000"/>
              </a:lnSpc>
              <a:buNone/>
            </a:pPr>
            <a:r>
              <a:rPr lang="en-US" sz="1400" dirty="0">
                <a:solidFill>
                  <a:srgbClr val="4C3BCF"/>
                </a:solidFill>
                <a:latin typeface="B612 Mono" pitchFamily="34" charset="0"/>
                <a:ea typeface="B612 Mono" pitchFamily="34" charset="-122"/>
                <a:cs typeface="B612 Mono" pitchFamily="34" charset="-120"/>
              </a:rPr>
              <a:t>06</a:t>
            </a:r>
            <a:endParaRPr lang="en-US" sz="1400" dirty="0"/>
          </a:p>
        </p:txBody>
      </p:sp>
      <p:sp>
        <p:nvSpPr>
          <p:cNvPr id="16" name="Text 14"/>
          <p:cNvSpPr/>
          <p:nvPr/>
        </p:nvSpPr>
        <p:spPr>
          <a:xfrm>
            <a:off x="1018554" y="5206623"/>
            <a:ext cx="10563556"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Candidate ranking with matched and missing skills</a:t>
            </a:r>
            <a:endParaRPr lang="en-US" sz="1450" dirty="0"/>
          </a:p>
        </p:txBody>
      </p:sp>
      <p:sp>
        <p:nvSpPr>
          <p:cNvPr id="17" name="Shape 15"/>
          <p:cNvSpPr/>
          <p:nvPr/>
        </p:nvSpPr>
        <p:spPr>
          <a:xfrm>
            <a:off x="609585" y="5818783"/>
            <a:ext cx="4248738" cy="277217"/>
          </a:xfrm>
          <a:prstGeom prst="roundRect">
            <a:avLst>
              <a:gd name="adj" fmla="val 8246"/>
            </a:avLst>
          </a:prstGeom>
          <a:noFill/>
          <a:ln w="6350">
            <a:solidFill>
              <a:srgbClr val="4C3BCF"/>
            </a:solidFill>
            <a:prstDash val="solid"/>
          </a:ln>
        </p:spPr>
      </p:sp>
      <p:sp>
        <p:nvSpPr>
          <p:cNvPr id="18" name="Text 16"/>
          <p:cNvSpPr/>
          <p:nvPr/>
        </p:nvSpPr>
        <p:spPr>
          <a:xfrm>
            <a:off x="716242" y="5877016"/>
            <a:ext cx="4645008" cy="170656"/>
          </a:xfrm>
          <a:prstGeom prst="rect">
            <a:avLst/>
          </a:prstGeom>
          <a:noFill/>
          <a:ln/>
        </p:spPr>
        <p:txBody>
          <a:bodyPr wrap="none" lIns="0" tIns="0" rIns="0" bIns="0" rtlCol="0" anchor="t"/>
          <a:lstStyle/>
          <a:p>
            <a:pPr algn="l" indent="0" marL="0">
              <a:lnSpc>
                <a:spcPct val="100000"/>
              </a:lnSpc>
              <a:buNone/>
            </a:pPr>
            <a:r>
              <a:rPr lang="en-US" sz="1100" spc="67" kern="100" dirty="0">
                <a:solidFill>
                  <a:srgbClr val="4C3BCF"/>
                </a:solidFill>
                <a:latin typeface="B612 Mono" pitchFamily="34" charset="0"/>
                <a:ea typeface="B612 Mono" pitchFamily="34" charset="-122"/>
                <a:cs typeface="B612 Mono" pitchFamily="34" charset="-120"/>
              </a:rPr>
              <a:t>IMPLEMENTED SYSTEM · FULL SCREENING LOOP</a:t>
            </a:r>
            <a:endParaRPr lang="en-US" sz="1100" dirty="0"/>
          </a:p>
        </p:txBody>
      </p:sp>
      <p:sp>
        <p:nvSpPr>
          <p:cNvPr id="19" name="Shape 17"/>
          <p:cNvSpPr/>
          <p:nvPr/>
        </p:nvSpPr>
        <p:spPr>
          <a:xfrm>
            <a:off x="609585" y="2083594"/>
            <a:ext cx="10972526" cy="12700"/>
          </a:xfrm>
          <a:prstGeom prst="rect">
            <a:avLst/>
          </a:prstGeom>
          <a:solidFill>
            <a:srgbClr val="C2CCD5"/>
          </a:solidFill>
          <a:ln/>
        </p:spPr>
      </p:sp>
      <p:sp>
        <p:nvSpPr>
          <p:cNvPr id="20" name="Shape 18"/>
          <p:cNvSpPr/>
          <p:nvPr/>
        </p:nvSpPr>
        <p:spPr>
          <a:xfrm>
            <a:off x="609585" y="2803922"/>
            <a:ext cx="10972526" cy="12700"/>
          </a:xfrm>
          <a:prstGeom prst="rect">
            <a:avLst/>
          </a:prstGeom>
          <a:solidFill>
            <a:srgbClr val="C2CCD5"/>
          </a:solidFill>
          <a:ln/>
        </p:spPr>
      </p:sp>
      <p:sp>
        <p:nvSpPr>
          <p:cNvPr id="21" name="Shape 19"/>
          <p:cNvSpPr/>
          <p:nvPr/>
        </p:nvSpPr>
        <p:spPr>
          <a:xfrm>
            <a:off x="609585" y="3524250"/>
            <a:ext cx="10972526" cy="12700"/>
          </a:xfrm>
          <a:prstGeom prst="rect">
            <a:avLst/>
          </a:prstGeom>
          <a:solidFill>
            <a:srgbClr val="C2CCD5"/>
          </a:solidFill>
          <a:ln/>
        </p:spPr>
      </p:sp>
      <p:sp>
        <p:nvSpPr>
          <p:cNvPr id="22" name="Shape 20"/>
          <p:cNvSpPr/>
          <p:nvPr/>
        </p:nvSpPr>
        <p:spPr>
          <a:xfrm>
            <a:off x="609585" y="4244578"/>
            <a:ext cx="10972526" cy="12700"/>
          </a:xfrm>
          <a:prstGeom prst="rect">
            <a:avLst/>
          </a:prstGeom>
          <a:solidFill>
            <a:srgbClr val="C2CCD5"/>
          </a:solidFill>
          <a:ln/>
        </p:spPr>
      </p:sp>
      <p:sp>
        <p:nvSpPr>
          <p:cNvPr id="23" name="Shape 21"/>
          <p:cNvSpPr/>
          <p:nvPr/>
        </p:nvSpPr>
        <p:spPr>
          <a:xfrm>
            <a:off x="609585" y="4965005"/>
            <a:ext cx="10972526" cy="12700"/>
          </a:xfrm>
          <a:prstGeom prst="rect">
            <a:avLst/>
          </a:prstGeom>
          <a:solidFill>
            <a:srgbClr val="C2CCD5"/>
          </a:solidFill>
          <a:ln/>
        </p:spPr>
      </p:sp>
      <p:pic>
        <p:nvPicPr>
          <p:cNvPr id="24" name="Image 0" descr="preencoded.png">    </p:cNvPr>
          <p:cNvPicPr>
            <a:picLocks noChangeAspect="1"/>
          </p:cNvPicPr>
          <p:nvPr/>
        </p:nvPicPr>
        <p:blipFill>
          <a:blip r:embed="rId1"/>
          <a:stretch>
            <a:fillRect/>
          </a:stretch>
        </p:blipFill>
        <p:spPr>
          <a:xfrm>
            <a:off x="609585" y="6350000"/>
            <a:ext cx="10972526" cy="63500"/>
          </a:xfrm>
          <a:prstGeom prst="rect">
            <a:avLst/>
          </a:prstGeom>
        </p:spPr>
      </p:pic>
      <p:sp>
        <p:nvSpPr>
          <p:cNvPr id="25" name="Text 22"/>
          <p:cNvSpPr/>
          <p:nvPr/>
        </p:nvSpPr>
        <p:spPr>
          <a:xfrm>
            <a:off x="172438" y="6481465"/>
            <a:ext cx="2836792"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AI RESUME SCREENING SYSTEM</a:t>
            </a:r>
            <a:endParaRPr lang="en-US" sz="950" dirty="0"/>
          </a:p>
        </p:txBody>
      </p:sp>
      <p:sp>
        <p:nvSpPr>
          <p:cNvPr id="26" name="Text 23"/>
          <p:cNvSpPr/>
          <p:nvPr/>
        </p:nvSpPr>
        <p:spPr>
          <a:xfrm>
            <a:off x="11419495" y="6481465"/>
            <a:ext cx="772200"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06 / 10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algn="l" indent="0" marL="0">
              <a:lnSpc>
                <a:spcPct val="100000"/>
              </a:lnSpc>
              <a:buNone/>
            </a:pPr>
            <a:r>
              <a:rPr lang="en-US" sz="1050" spc="84" kern="100" dirty="0">
                <a:solidFill>
                  <a:srgbClr val="5B6570"/>
                </a:solidFill>
                <a:latin typeface="B612 Mono" pitchFamily="34" charset="0"/>
                <a:ea typeface="B612 Mono" pitchFamily="34" charset="-122"/>
                <a:cs typeface="B612 Mono" pitchFamily="34" charset="-120"/>
              </a:rPr>
              <a:t>VISIBLE OUTPUT</a:t>
            </a:r>
            <a:endParaRPr lang="en-US" sz="1050" dirty="0"/>
          </a:p>
        </p:txBody>
      </p:sp>
      <p:sp>
        <p:nvSpPr>
          <p:cNvPr id="3" name="Text 1"/>
          <p:cNvSpPr/>
          <p:nvPr/>
        </p:nvSpPr>
        <p:spPr>
          <a:xfrm>
            <a:off x="609585" y="858440"/>
            <a:ext cx="10972526" cy="349250"/>
          </a:xfrm>
          <a:prstGeom prst="rect">
            <a:avLst/>
          </a:prstGeom>
          <a:noFill/>
          <a:ln/>
        </p:spPr>
        <p:txBody>
          <a:bodyPr wrap="none" lIns="0" tIns="0" rIns="0" bIns="0" rtlCol="0" anchor="t"/>
          <a:lstStyle/>
          <a:p>
            <a:pPr algn="l" indent="0" marL="0">
              <a:lnSpc>
                <a:spcPct val="92000"/>
              </a:lnSpc>
              <a:buNone/>
            </a:pPr>
            <a:r>
              <a:rPr lang="en-US" sz="2500" b="1" spc="-25" kern="100" dirty="0">
                <a:solidFill>
                  <a:srgbClr val="1A1F26"/>
                </a:solidFill>
                <a:latin typeface="B612 Bold" pitchFamily="34" charset="0"/>
                <a:ea typeface="B612 Bold" pitchFamily="34" charset="-122"/>
                <a:cs typeface="B612 Bold" pitchFamily="34" charset="-120"/>
              </a:rPr>
              <a:t>Results are visible, explainable, and report-ready</a:t>
            </a:r>
            <a:endParaRPr lang="en-US" sz="2500" dirty="0"/>
          </a:p>
        </p:txBody>
      </p:sp>
      <p:sp>
        <p:nvSpPr>
          <p:cNvPr id="4" name="Text 2"/>
          <p:cNvSpPr/>
          <p:nvPr/>
        </p:nvSpPr>
        <p:spPr>
          <a:xfrm>
            <a:off x="609585" y="1604566"/>
            <a:ext cx="6309262" cy="188516"/>
          </a:xfrm>
          <a:prstGeom prst="rect">
            <a:avLst/>
          </a:prstGeom>
          <a:noFill/>
          <a:ln/>
        </p:spPr>
        <p:txBody>
          <a:bodyPr wrap="none" lIns="0" tIns="0" rIns="0" bIns="0" rtlCol="0" anchor="t"/>
          <a:lstStyle/>
          <a:p>
            <a:pPr algn="l" indent="0" marL="0">
              <a:lnSpc>
                <a:spcPct val="112000"/>
              </a:lnSpc>
              <a:buNone/>
            </a:pPr>
            <a:r>
              <a:rPr lang="en-US" sz="1100" dirty="0">
                <a:solidFill>
                  <a:srgbClr val="5B6570"/>
                </a:solidFill>
                <a:latin typeface="Atkinson Hyperlegible Next" pitchFamily="34" charset="0"/>
                <a:ea typeface="Atkinson Hyperlegible Next" pitchFamily="34" charset="-122"/>
                <a:cs typeface="Atkinson Hyperlegible Next" pitchFamily="34" charset="-120"/>
              </a:rPr>
              <a:t>SCREENING OUTPUT CHECK</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585" y="1901031"/>
          <a:ext cx="6309262" cy="914400"/>
        </p:xfrm>
        <a:graphic>
          <a:graphicData uri="http://schemas.openxmlformats.org/drawingml/2006/table">
            <a:tbl>
              <a:tblPr/>
              <a:tblGrid>
                <a:gridCol w="4542617"/>
                <a:gridCol w="1766645"/>
              </a:tblGrid>
              <a:tr h="350333">
                <a:tc>
                  <a:txBody>
                    <a:bodyPr/>
                    <a:lstStyle/>
                    <a:p>
                      <a:pPr algn="l" indent="0" marL="0">
                        <a:buNone/>
                      </a:pPr>
                      <a:r>
                        <a:rPr lang="en-US" sz="1100" spc="112" kern="100" dirty="0">
                          <a:solidFill>
                            <a:srgbClr val="1A1F26"/>
                          </a:solidFill>
                          <a:latin typeface="B612 Mono" pitchFamily="34" charset="0"/>
                          <a:ea typeface="B612 Mono" pitchFamily="34" charset="-122"/>
                          <a:cs typeface="B612 Mono" pitchFamily="34" charset="-120"/>
                        </a:rPr>
                        <a:t>OUTPUT VISIBLE IN THE SYSTEM</a:t>
                      </a:r>
                      <a:endParaRPr lang="en-US" sz="11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F7F8F5"/>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algn="l" indent="0" marL="0">
                        <a:buNone/>
                      </a:pPr>
                      <a:r>
                        <a:rPr lang="en-US" sz="1100" spc="112" kern="100" dirty="0">
                          <a:solidFill>
                            <a:srgbClr val="1A1F26"/>
                          </a:solidFill>
                          <a:latin typeface="B612 Mono" pitchFamily="34" charset="0"/>
                          <a:ea typeface="B612 Mono" pitchFamily="34" charset="-122"/>
                          <a:cs typeface="B612 Mono" pitchFamily="34" charset="-120"/>
                        </a:rPr>
                        <a:t>STATUS</a:t>
                      </a:r>
                      <a:endParaRPr lang="en-US" sz="11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F7F8F5"/>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r>
              <a:tr h="425638">
                <a:tc>
                  <a:txBody>
                    <a:bodyPr/>
                    <a:lstStyle/>
                    <a:p>
                      <a:pPr algn="l" indent="0" marL="0">
                        <a:buNone/>
                      </a:pPr>
                      <a:r>
                        <a:rPr lang="en-US" sz="1400" dirty="0">
                          <a:solidFill>
                            <a:srgbClr val="2A313A"/>
                          </a:solidFill>
                          <a:latin typeface="B612 Mono" pitchFamily="34" charset="0"/>
                          <a:ea typeface="B612 Mono" pitchFamily="34" charset="-122"/>
                          <a:cs typeface="B612 Mono" pitchFamily="34" charset="-120"/>
                        </a:rPr>
                        <a:t>Resumes successfully processed</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algn="l" indent="0" marL="0">
                        <a:buNone/>
                      </a:pPr>
                      <a:r>
                        <a:rPr lang="en-US" sz="950" spc="67" kern="100" dirty="0">
                          <a:solidFill>
                            <a:srgbClr val="2A313A"/>
                          </a:solidFill>
                          <a:latin typeface="Atkinson Hyperlegible Next" pitchFamily="34" charset="0"/>
                          <a:ea typeface="Atkinson Hyperlegible Next" pitchFamily="34" charset="-122"/>
                          <a:cs typeface="Atkinson Hyperlegible Next" pitchFamily="34" charset="-120"/>
                        </a:rPr>
                        <a:t>READY</a:t>
                      </a:r>
                      <a:endParaRPr lang="en-US" sz="11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r>
              <a:tr h="646096">
                <a:tc>
                  <a:txBody>
                    <a:bodyPr/>
                    <a:lstStyle/>
                    <a:p>
                      <a:pPr algn="l" indent="0" marL="0">
                        <a:buNone/>
                      </a:pPr>
                      <a:r>
                        <a:rPr lang="en-US" sz="1400" dirty="0">
                          <a:solidFill>
                            <a:srgbClr val="2A313A"/>
                          </a:solidFill>
                          <a:latin typeface="B612 Mono" pitchFamily="34" charset="0"/>
                          <a:ea typeface="B612 Mono" pitchFamily="34" charset="-122"/>
                          <a:cs typeface="B612 Mono" pitchFamily="34" charset="-120"/>
                        </a:rPr>
                        <a:t>Skills matched against job requirements</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algn="l" indent="0" marL="0">
                        <a:buNone/>
                      </a:pPr>
                      <a:r>
                        <a:rPr lang="en-US" sz="950" spc="67" kern="100" dirty="0">
                          <a:solidFill>
                            <a:srgbClr val="2A313A"/>
                          </a:solidFill>
                          <a:latin typeface="Atkinson Hyperlegible Next" pitchFamily="34" charset="0"/>
                          <a:ea typeface="Atkinson Hyperlegible Next" pitchFamily="34" charset="-122"/>
                          <a:cs typeface="Atkinson Hyperlegible Next" pitchFamily="34" charset="-120"/>
                        </a:rPr>
                        <a:t>READY</a:t>
                      </a:r>
                      <a:endParaRPr lang="en-US" sz="11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r>
              <a:tr h="425638">
                <a:tc>
                  <a:txBody>
                    <a:bodyPr/>
                    <a:lstStyle/>
                    <a:p>
                      <a:pPr algn="l" indent="0" marL="0">
                        <a:buNone/>
                      </a:pPr>
                      <a:r>
                        <a:rPr lang="en-US" sz="1400" dirty="0">
                          <a:solidFill>
                            <a:srgbClr val="2A313A"/>
                          </a:solidFill>
                          <a:latin typeface="B612 Mono" pitchFamily="34" charset="0"/>
                          <a:ea typeface="B612 Mono" pitchFamily="34" charset="-122"/>
                          <a:cs typeface="B612 Mono" pitchFamily="34" charset="-120"/>
                        </a:rPr>
                        <a:t>Exact and close matches identified</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algn="l" indent="0" marL="0">
                        <a:buNone/>
                      </a:pPr>
                      <a:r>
                        <a:rPr lang="en-US" sz="950" spc="67" kern="100" dirty="0">
                          <a:solidFill>
                            <a:srgbClr val="2A313A"/>
                          </a:solidFill>
                          <a:latin typeface="Atkinson Hyperlegible Next" pitchFamily="34" charset="0"/>
                          <a:ea typeface="Atkinson Hyperlegible Next" pitchFamily="34" charset="-122"/>
                          <a:cs typeface="Atkinson Hyperlegible Next" pitchFamily="34" charset="-120"/>
                        </a:rPr>
                        <a:t>READY</a:t>
                      </a:r>
                      <a:endParaRPr lang="en-US" sz="11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r>
              <a:tr h="646096">
                <a:tc>
                  <a:txBody>
                    <a:bodyPr/>
                    <a:lstStyle/>
                    <a:p>
                      <a:pPr algn="l" indent="0" marL="0">
                        <a:buNone/>
                      </a:pPr>
                      <a:r>
                        <a:rPr lang="en-US" sz="1400" dirty="0">
                          <a:solidFill>
                            <a:srgbClr val="2A313A"/>
                          </a:solidFill>
                          <a:latin typeface="B612 Mono" pitchFamily="34" charset="0"/>
                          <a:ea typeface="B612 Mono" pitchFamily="34" charset="-122"/>
                          <a:cs typeface="B612 Mono" pitchFamily="34" charset="-120"/>
                        </a:rPr>
                        <a:t>Candidate scores calculated and ranked</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algn="l" indent="0" marL="0">
                        <a:buNone/>
                      </a:pPr>
                      <a:r>
                        <a:rPr lang="en-US" sz="950" spc="67" kern="100" dirty="0">
                          <a:solidFill>
                            <a:srgbClr val="2A313A"/>
                          </a:solidFill>
                          <a:latin typeface="Atkinson Hyperlegible Next" pitchFamily="34" charset="0"/>
                          <a:ea typeface="Atkinson Hyperlegible Next" pitchFamily="34" charset="-122"/>
                          <a:cs typeface="Atkinson Hyperlegible Next" pitchFamily="34" charset="-120"/>
                        </a:rPr>
                        <a:t>READY</a:t>
                      </a:r>
                      <a:endParaRPr lang="en-US" sz="11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r>
              <a:tr h="425638">
                <a:tc>
                  <a:txBody>
                    <a:bodyPr/>
                    <a:lstStyle/>
                    <a:p>
                      <a:pPr algn="l" indent="0" marL="0">
                        <a:buNone/>
                      </a:pPr>
                      <a:r>
                        <a:rPr lang="en-US" sz="1400" dirty="0">
                          <a:solidFill>
                            <a:srgbClr val="2A313A"/>
                          </a:solidFill>
                          <a:latin typeface="B612 Mono" pitchFamily="34" charset="0"/>
                          <a:ea typeface="B612 Mono" pitchFamily="34" charset="-122"/>
                          <a:cs typeface="B612 Mono" pitchFamily="34" charset="-120"/>
                        </a:rPr>
                        <a:t>Matched and missing skills displayed</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c>
                  <a:txBody>
                    <a:bodyPr/>
                    <a:lstStyle/>
                    <a:p>
                      <a:pPr algn="l" indent="0" marL="0">
                        <a:buNone/>
                      </a:pPr>
                      <a:r>
                        <a:rPr lang="en-US" sz="950" spc="67" kern="100" dirty="0">
                          <a:solidFill>
                            <a:srgbClr val="2A313A"/>
                          </a:solidFill>
                          <a:latin typeface="Atkinson Hyperlegible Next" pitchFamily="34" charset="0"/>
                          <a:ea typeface="Atkinson Hyperlegible Next" pitchFamily="34" charset="-122"/>
                          <a:cs typeface="Atkinson Hyperlegible Next" pitchFamily="34" charset="-120"/>
                        </a:rPr>
                        <a:t>READY</a:t>
                      </a:r>
                      <a:endParaRPr lang="en-US" sz="11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1A1F26"/>
                      </a:solidFill>
                      <a:prstDash val="solid"/>
                      <a:round/>
                      <a:headEnd type="none" w="med" len="med"/>
                      <a:tailEnd type="none" w="med" len="med"/>
                    </a:lnB>
                  </a:tcPr>
                </a:tc>
              </a:tr>
              <a:tr h="425638">
                <a:tc>
                  <a:txBody>
                    <a:bodyPr/>
                    <a:lstStyle/>
                    <a:p>
                      <a:pPr algn="l" indent="0" marL="0">
                        <a:buNone/>
                      </a:pPr>
                      <a:r>
                        <a:rPr lang="en-US" sz="1400" dirty="0">
                          <a:solidFill>
                            <a:srgbClr val="2A313A"/>
                          </a:solidFill>
                          <a:latin typeface="B612 Mono" pitchFamily="34" charset="0"/>
                          <a:ea typeface="B612 Mono" pitchFamily="34" charset="-122"/>
                          <a:cs typeface="B612 Mono" pitchFamily="34" charset="-120"/>
                        </a:rPr>
                        <a:t>Final screening report generated</a:t>
                      </a:r>
                      <a:endParaRPr lang="en-US" sz="14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F7F8F5"/>
                      </a:solidFill>
                      <a:prstDash val="solid"/>
                      <a:round/>
                      <a:headEnd type="none" w="med" len="med"/>
                      <a:tailEnd type="none" w="med" len="med"/>
                    </a:lnB>
                  </a:tcPr>
                </a:tc>
                <a:tc>
                  <a:txBody>
                    <a:bodyPr/>
                    <a:lstStyle/>
                    <a:p>
                      <a:pPr algn="l" indent="0" marL="0">
                        <a:buNone/>
                      </a:pPr>
                      <a:r>
                        <a:rPr lang="en-US" sz="950" spc="67" kern="100" dirty="0">
                          <a:solidFill>
                            <a:srgbClr val="2A313A"/>
                          </a:solidFill>
                          <a:latin typeface="Atkinson Hyperlegible Next" pitchFamily="34" charset="0"/>
                          <a:ea typeface="Atkinson Hyperlegible Next" pitchFamily="34" charset="-122"/>
                          <a:cs typeface="Atkinson Hyperlegible Next" pitchFamily="34" charset="-120"/>
                        </a:rPr>
                        <a:t>READY</a:t>
                      </a:r>
                      <a:endParaRPr lang="en-US" sz="1100" dirty="0">
                        <a:latin typeface="B612 Mono" charset="0"/>
                        <a:ea typeface="B612 Mono" charset="0"/>
                        <a:cs typeface="B612 Mono" charset="0"/>
                      </a:endParaRPr>
                    </a:p>
                  </a:txBody>
                  <a:tcPr marL="133347" marR="133347" marT="71118" marB="71118" anchor="ctr">
                    <a:lnL w="12700" cap="flat" cmpd="sng" algn="ctr">
                      <a:solidFill>
                        <a:srgbClr val="F7F8F5"/>
                      </a:solidFill>
                      <a:prstDash val="solid"/>
                      <a:round/>
                      <a:headEnd type="none" w="med" len="med"/>
                      <a:tailEnd type="none" w="med" len="med"/>
                    </a:lnL>
                    <a:lnR w="12700" cap="flat" cmpd="sng" algn="ctr">
                      <a:solidFill>
                        <a:srgbClr val="F7F8F5"/>
                      </a:solidFill>
                      <a:prstDash val="solid"/>
                      <a:round/>
                      <a:headEnd type="none" w="med" len="med"/>
                      <a:tailEnd type="none" w="med" len="med"/>
                    </a:lnR>
                    <a:lnT w="12700" cap="flat" cmpd="sng" algn="ctr">
                      <a:solidFill>
                        <a:srgbClr val="1A1F26"/>
                      </a:solidFill>
                      <a:prstDash val="solid"/>
                      <a:round/>
                      <a:headEnd type="none" w="med" len="med"/>
                      <a:tailEnd type="none" w="med" len="med"/>
                    </a:lnT>
                    <a:lnB w="12700" cap="flat" cmpd="sng" algn="ctr">
                      <a:solidFill>
                        <a:srgbClr val="F7F8F5"/>
                      </a:solidFill>
                      <a:prstDash val="solid"/>
                      <a:round/>
                      <a:headEnd type="none" w="med" len="med"/>
                      <a:tailEnd type="none" w="med" len="med"/>
                    </a:lnB>
                  </a:tcPr>
                </a:tc>
              </a:tr>
            </a:tbl>
          </a:graphicData>
        </a:graphic>
      </p:graphicFrame>
      <p:sp>
        <p:nvSpPr>
          <p:cNvPr id="6" name="Shape 3"/>
          <p:cNvSpPr/>
          <p:nvPr/>
        </p:nvSpPr>
        <p:spPr>
          <a:xfrm>
            <a:off x="7375936" y="1375966"/>
            <a:ext cx="4206174" cy="4720034"/>
          </a:xfrm>
          <a:prstGeom prst="rect">
            <a:avLst/>
          </a:prstGeom>
          <a:solidFill>
            <a:srgbClr val="E8E5FA"/>
          </a:solidFill>
          <a:ln/>
        </p:spPr>
      </p:sp>
      <p:sp>
        <p:nvSpPr>
          <p:cNvPr id="7" name="Text 4"/>
          <p:cNvSpPr/>
          <p:nvPr/>
        </p:nvSpPr>
        <p:spPr>
          <a:xfrm>
            <a:off x="7680728" y="1683941"/>
            <a:ext cx="3901382" cy="159941"/>
          </a:xfrm>
          <a:prstGeom prst="rect">
            <a:avLst/>
          </a:prstGeom>
          <a:noFill/>
          <a:ln/>
        </p:spPr>
        <p:txBody>
          <a:bodyPr wrap="none" lIns="0" tIns="0" rIns="0" bIns="0" rtlCol="0" anchor="t"/>
          <a:lstStyle/>
          <a:p>
            <a:pPr algn="l" indent="0" marL="0">
              <a:lnSpc>
                <a:spcPct val="100000"/>
              </a:lnSpc>
              <a:buNone/>
            </a:pPr>
            <a:r>
              <a:rPr lang="en-US" sz="1050" spc="84" kern="100" dirty="0">
                <a:solidFill>
                  <a:srgbClr val="000000"/>
                </a:solidFill>
                <a:latin typeface="B612 Mono" pitchFamily="34" charset="0"/>
                <a:ea typeface="B612 Mono" pitchFamily="34" charset="-122"/>
                <a:cs typeface="B612 Mono" pitchFamily="34" charset="-120"/>
              </a:rPr>
              <a:t>WHY IT IS EXPLAINABLE</a:t>
            </a:r>
            <a:endParaRPr lang="en-US" sz="1050" dirty="0"/>
          </a:p>
        </p:txBody>
      </p:sp>
      <p:sp>
        <p:nvSpPr>
          <p:cNvPr id="8" name="Text 5"/>
          <p:cNvSpPr/>
          <p:nvPr/>
        </p:nvSpPr>
        <p:spPr>
          <a:xfrm>
            <a:off x="7680728" y="1974056"/>
            <a:ext cx="3596590" cy="1676400"/>
          </a:xfrm>
          <a:prstGeom prst="rect">
            <a:avLst/>
          </a:prstGeom>
          <a:noFill/>
          <a:ln/>
        </p:spPr>
        <p:txBody>
          <a:bodyPr wrap="square" lIns="0" tIns="0" rIns="0" bIns="0" rtlCol="0" anchor="t">
            <a:normAutofit/>
          </a:bodyPr>
          <a:lstStyle/>
          <a:p>
            <a:pPr algn="l" indent="0" marL="0">
              <a:lnSpc>
                <a:spcPct val="83000"/>
              </a:lnSpc>
              <a:buNone/>
            </a:pPr>
            <a:r>
              <a:rPr lang="en-US" sz="4400" spc="-44" kern="100" dirty="0">
                <a:solidFill>
                  <a:srgbClr val="000000"/>
                </a:solidFill>
                <a:latin typeface="B612" pitchFamily="34" charset="0"/>
                <a:ea typeface="B612" pitchFamily="34" charset="-122"/>
                <a:cs typeface="B612" pitchFamily="34" charset="-120"/>
              </a:rPr>
              <a:t>Matched.</a:t>
            </a:r>
            <a:endParaRPr lang="en-US" sz="4400" dirty="0"/>
          </a:p>
          <a:p>
            <a:pPr algn="l" indent="0" marL="0">
              <a:lnSpc>
                <a:spcPct val="83000"/>
              </a:lnSpc>
              <a:buNone/>
            </a:pPr>
            <a:r>
              <a:rPr lang="en-US" sz="4400" spc="-44" kern="100" dirty="0">
                <a:solidFill>
                  <a:srgbClr val="000000"/>
                </a:solidFill>
                <a:latin typeface="B612" pitchFamily="34" charset="0"/>
                <a:ea typeface="B612" pitchFamily="34" charset="-122"/>
                <a:cs typeface="B612" pitchFamily="34" charset="-120"/>
              </a:rPr>
              <a:t>Missing.</a:t>
            </a:r>
            <a:endParaRPr lang="en-US" sz="4400" dirty="0"/>
          </a:p>
          <a:p>
            <a:pPr algn="l" indent="0" marL="0">
              <a:lnSpc>
                <a:spcPct val="83000"/>
              </a:lnSpc>
              <a:buNone/>
            </a:pPr>
            <a:r>
              <a:rPr lang="en-US" sz="4400" spc="-44" kern="100" dirty="0">
                <a:solidFill>
                  <a:srgbClr val="000000"/>
                </a:solidFill>
                <a:latin typeface="B612" pitchFamily="34" charset="0"/>
                <a:ea typeface="B612" pitchFamily="34" charset="-122"/>
                <a:cs typeface="B612" pitchFamily="34" charset="-120"/>
              </a:rPr>
              <a:t>Ranked.</a:t>
            </a:r>
            <a:endParaRPr lang="en-US" sz="4400" dirty="0"/>
          </a:p>
        </p:txBody>
      </p:sp>
      <p:sp>
        <p:nvSpPr>
          <p:cNvPr id="9" name="Text 6"/>
          <p:cNvSpPr/>
          <p:nvPr/>
        </p:nvSpPr>
        <p:spPr>
          <a:xfrm>
            <a:off x="7680728" y="3767931"/>
            <a:ext cx="3596590" cy="746522"/>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120"/>
              </a:rPr>
              <a:t>The system shows how each candidate compares with the job requirements instead of returning only a final score.</a:t>
            </a:r>
            <a:endParaRPr lang="en-US" sz="1400" dirty="0"/>
          </a:p>
        </p:txBody>
      </p:sp>
      <p:sp>
        <p:nvSpPr>
          <p:cNvPr id="10" name="Text 7"/>
          <p:cNvSpPr/>
          <p:nvPr/>
        </p:nvSpPr>
        <p:spPr>
          <a:xfrm>
            <a:off x="7680728" y="5414169"/>
            <a:ext cx="3596590" cy="377031"/>
          </a:xfrm>
          <a:prstGeom prst="rect">
            <a:avLst/>
          </a:prstGeom>
          <a:noFill/>
          <a:ln/>
        </p:spPr>
        <p:txBody>
          <a:bodyPr wrap="square" lIns="0" tIns="0" rIns="0" bIns="0" rtlCol="0" anchor="t">
            <a:normAutofit/>
          </a:bodyPr>
          <a:lstStyle/>
          <a:p>
            <a:pPr algn="l" indent="0" marL="0">
              <a:lnSpc>
                <a:spcPct val="112000"/>
              </a:lnSpc>
              <a:buNone/>
            </a:pPr>
            <a:r>
              <a:rPr lang="en-US" sz="1100" dirty="0">
                <a:solidFill>
                  <a:srgbClr val="000000"/>
                </a:solidFill>
                <a:latin typeface="Atkinson Hyperlegible Next" pitchFamily="34" charset="0"/>
                <a:ea typeface="Atkinson Hyperlegible Next" pitchFamily="34" charset="-122"/>
                <a:cs typeface="Atkinson Hyperlegible Next" pitchFamily="34" charset="-120"/>
              </a:rPr>
              <a:t>Validate with screenshots or output examples, not fabricated graphs or statistics.</a:t>
            </a:r>
            <a:endParaRPr lang="en-US" sz="1100" dirty="0"/>
          </a:p>
        </p:txBody>
      </p:sp>
      <p:pic>
        <p:nvPicPr>
          <p:cNvPr id="11" name="Image 0" descr="preencoded.png">    </p:cNvPr>
          <p:cNvPicPr>
            <a:picLocks noChangeAspect="1"/>
          </p:cNvPicPr>
          <p:nvPr/>
        </p:nvPicPr>
        <p:blipFill>
          <a:blip r:embed="rId1"/>
          <a:stretch>
            <a:fillRect/>
          </a:stretch>
        </p:blipFill>
        <p:spPr>
          <a:xfrm>
            <a:off x="609585" y="6350000"/>
            <a:ext cx="10972526" cy="63500"/>
          </a:xfrm>
          <a:prstGeom prst="rect">
            <a:avLst/>
          </a:prstGeom>
        </p:spPr>
      </p:pic>
      <p:sp>
        <p:nvSpPr>
          <p:cNvPr id="12" name="Text 8"/>
          <p:cNvSpPr/>
          <p:nvPr/>
        </p:nvSpPr>
        <p:spPr>
          <a:xfrm>
            <a:off x="172438" y="6481465"/>
            <a:ext cx="2836792"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AI RESUME SCREENING SYSTEM</a:t>
            </a:r>
            <a:endParaRPr lang="en-US" sz="950" dirty="0"/>
          </a:p>
        </p:txBody>
      </p:sp>
      <p:sp>
        <p:nvSpPr>
          <p:cNvPr id="13" name="Text 9"/>
          <p:cNvSpPr/>
          <p:nvPr/>
        </p:nvSpPr>
        <p:spPr>
          <a:xfrm>
            <a:off x="11419495" y="6481465"/>
            <a:ext cx="772200"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07 / 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algn="l" indent="0" marL="0">
              <a:lnSpc>
                <a:spcPct val="100000"/>
              </a:lnSpc>
              <a:buNone/>
            </a:pPr>
            <a:r>
              <a:rPr lang="en-US" sz="1050" spc="84" kern="100" dirty="0">
                <a:solidFill>
                  <a:srgbClr val="5B6570"/>
                </a:solidFill>
                <a:latin typeface="B612 Mono" pitchFamily="34" charset="0"/>
                <a:ea typeface="B612 Mono" pitchFamily="34" charset="-122"/>
                <a:cs typeface="B612 Mono" pitchFamily="34" charset="-120"/>
              </a:rPr>
              <a:t>INNOVATION</a:t>
            </a:r>
            <a:endParaRPr lang="en-US" sz="1050" dirty="0"/>
          </a:p>
        </p:txBody>
      </p:sp>
      <p:sp>
        <p:nvSpPr>
          <p:cNvPr id="3" name="Text 1"/>
          <p:cNvSpPr/>
          <p:nvPr/>
        </p:nvSpPr>
        <p:spPr>
          <a:xfrm>
            <a:off x="609585" y="858440"/>
            <a:ext cx="10972526" cy="349250"/>
          </a:xfrm>
          <a:prstGeom prst="rect">
            <a:avLst/>
          </a:prstGeom>
          <a:noFill/>
          <a:ln/>
        </p:spPr>
        <p:txBody>
          <a:bodyPr wrap="none" lIns="0" tIns="0" rIns="0" bIns="0" rtlCol="0" anchor="t"/>
          <a:lstStyle/>
          <a:p>
            <a:pPr algn="l" indent="0" marL="0">
              <a:lnSpc>
                <a:spcPct val="92000"/>
              </a:lnSpc>
              <a:buNone/>
            </a:pPr>
            <a:r>
              <a:rPr lang="en-US" sz="2500" b="1" spc="-25" kern="100" dirty="0">
                <a:solidFill>
                  <a:srgbClr val="1A1F26"/>
                </a:solidFill>
                <a:latin typeface="B612 Bold" pitchFamily="34" charset="0"/>
                <a:ea typeface="B612 Bold" pitchFamily="34" charset="-122"/>
                <a:cs typeface="B612 Bold" pitchFamily="34" charset="-120"/>
              </a:rPr>
              <a:t>Practical DSA creates the innovation</a:t>
            </a:r>
            <a:endParaRPr lang="en-US" sz="2500" dirty="0"/>
          </a:p>
        </p:txBody>
      </p:sp>
      <p:sp>
        <p:nvSpPr>
          <p:cNvPr id="4" name="Shape 2"/>
          <p:cNvSpPr/>
          <p:nvPr/>
        </p:nvSpPr>
        <p:spPr>
          <a:xfrm>
            <a:off x="609585" y="1369616"/>
            <a:ext cx="5333867" cy="4726384"/>
          </a:xfrm>
          <a:prstGeom prst="roundRect">
            <a:avLst>
              <a:gd name="adj" fmla="val 1612"/>
            </a:avLst>
          </a:prstGeom>
          <a:noFill/>
          <a:ln w="12700">
            <a:solidFill>
              <a:srgbClr val="1A1F26"/>
            </a:solidFill>
            <a:prstDash val="solid"/>
          </a:ln>
        </p:spPr>
      </p:sp>
      <p:sp>
        <p:nvSpPr>
          <p:cNvPr id="5" name="Text 3"/>
          <p:cNvSpPr/>
          <p:nvPr/>
        </p:nvSpPr>
        <p:spPr>
          <a:xfrm>
            <a:off x="850879" y="1614091"/>
            <a:ext cx="5092573" cy="159941"/>
          </a:xfrm>
          <a:prstGeom prst="rect">
            <a:avLst/>
          </a:prstGeom>
          <a:noFill/>
          <a:ln/>
        </p:spPr>
        <p:txBody>
          <a:bodyPr wrap="none" lIns="0" tIns="0" rIns="0" bIns="0" rtlCol="0" anchor="t"/>
          <a:lstStyle/>
          <a:p>
            <a:pPr algn="l" indent="0" marL="0">
              <a:lnSpc>
                <a:spcPct val="100000"/>
              </a:lnSpc>
              <a:buNone/>
            </a:pPr>
            <a:r>
              <a:rPr lang="en-US" sz="1050" b="1" spc="63" kern="100" dirty="0">
                <a:solidFill>
                  <a:srgbClr val="5B6570"/>
                </a:solidFill>
                <a:latin typeface="B612 Mono Bold" pitchFamily="34" charset="0"/>
                <a:ea typeface="B612 Mono Bold" pitchFamily="34" charset="-122"/>
                <a:cs typeface="B612 Mono Bold" pitchFamily="34" charset="-120"/>
              </a:rPr>
              <a:t>TECHNICAL COMPETENCE</a:t>
            </a:r>
            <a:endParaRPr lang="en-US" sz="1050" dirty="0"/>
          </a:p>
        </p:txBody>
      </p:sp>
      <p:pic>
        <p:nvPicPr>
          <p:cNvPr id="6" name="Image 0" descr="preencoded.png">    </p:cNvPr>
          <p:cNvPicPr>
            <a:picLocks noChangeAspect="1"/>
          </p:cNvPicPr>
          <p:nvPr/>
        </p:nvPicPr>
        <p:blipFill>
          <a:blip r:embed="rId1"/>
          <a:stretch>
            <a:fillRect/>
          </a:stretch>
        </p:blipFill>
        <p:spPr>
          <a:xfrm>
            <a:off x="850879" y="1878826"/>
            <a:ext cx="355591" cy="355600"/>
          </a:xfrm>
          <a:prstGeom prst="rect">
            <a:avLst/>
          </a:prstGeom>
        </p:spPr>
      </p:pic>
      <p:sp>
        <p:nvSpPr>
          <p:cNvPr id="7" name="Text 4"/>
          <p:cNvSpPr/>
          <p:nvPr/>
        </p:nvSpPr>
        <p:spPr>
          <a:xfrm>
            <a:off x="1384265" y="1885474"/>
            <a:ext cx="4317892"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Multiple-pattern string matching</a:t>
            </a:r>
            <a:endParaRPr lang="en-US" sz="1450" dirty="0"/>
          </a:p>
        </p:txBody>
      </p:sp>
      <p:pic>
        <p:nvPicPr>
          <p:cNvPr id="8" name="Image 1" descr="preencoded.png">    </p:cNvPr>
          <p:cNvPicPr>
            <a:picLocks noChangeAspect="1"/>
          </p:cNvPicPr>
          <p:nvPr/>
        </p:nvPicPr>
        <p:blipFill>
          <a:blip r:embed="rId2"/>
          <a:stretch>
            <a:fillRect/>
          </a:stretch>
        </p:blipFill>
        <p:spPr>
          <a:xfrm>
            <a:off x="850879" y="2910899"/>
            <a:ext cx="355591" cy="355600"/>
          </a:xfrm>
          <a:prstGeom prst="rect">
            <a:avLst/>
          </a:prstGeom>
        </p:spPr>
      </p:pic>
      <p:sp>
        <p:nvSpPr>
          <p:cNvPr id="9" name="Text 5"/>
          <p:cNvSpPr/>
          <p:nvPr/>
        </p:nvSpPr>
        <p:spPr>
          <a:xfrm>
            <a:off x="1384265" y="2917547"/>
            <a:ext cx="4317892"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Fuzzy matching with Edit Distance</a:t>
            </a:r>
            <a:endParaRPr lang="en-US" sz="1450" dirty="0"/>
          </a:p>
        </p:txBody>
      </p:sp>
      <p:pic>
        <p:nvPicPr>
          <p:cNvPr id="10" name="Image 2" descr="preencoded.png">    </p:cNvPr>
          <p:cNvPicPr>
            <a:picLocks noChangeAspect="1"/>
          </p:cNvPicPr>
          <p:nvPr/>
        </p:nvPicPr>
        <p:blipFill>
          <a:blip r:embed="rId3"/>
          <a:stretch>
            <a:fillRect/>
          </a:stretch>
        </p:blipFill>
        <p:spPr>
          <a:xfrm>
            <a:off x="850879" y="3942973"/>
            <a:ext cx="355591" cy="355600"/>
          </a:xfrm>
          <a:prstGeom prst="rect">
            <a:avLst/>
          </a:prstGeom>
        </p:spPr>
      </p:pic>
      <p:sp>
        <p:nvSpPr>
          <p:cNvPr id="11" name="Text 6"/>
          <p:cNvSpPr/>
          <p:nvPr/>
        </p:nvSpPr>
        <p:spPr>
          <a:xfrm>
            <a:off x="1384265" y="3949621"/>
            <a:ext cx="4317892"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Sorting-based ranking</a:t>
            </a:r>
            <a:endParaRPr lang="en-US" sz="1450" dirty="0"/>
          </a:p>
        </p:txBody>
      </p:sp>
      <p:pic>
        <p:nvPicPr>
          <p:cNvPr id="12" name="Image 3" descr="preencoded.png">    </p:cNvPr>
          <p:cNvPicPr>
            <a:picLocks noChangeAspect="1"/>
          </p:cNvPicPr>
          <p:nvPr/>
        </p:nvPicPr>
        <p:blipFill>
          <a:blip r:embed="rId4"/>
          <a:stretch>
            <a:fillRect/>
          </a:stretch>
        </p:blipFill>
        <p:spPr>
          <a:xfrm>
            <a:off x="850879" y="4975046"/>
            <a:ext cx="355591" cy="355600"/>
          </a:xfrm>
          <a:prstGeom prst="rect">
            <a:avLst/>
          </a:prstGeom>
        </p:spPr>
      </p:pic>
      <p:sp>
        <p:nvSpPr>
          <p:cNvPr id="13" name="Text 7"/>
          <p:cNvSpPr/>
          <p:nvPr/>
        </p:nvSpPr>
        <p:spPr>
          <a:xfrm>
            <a:off x="1384265" y="4981694"/>
            <a:ext cx="4317892" cy="220960"/>
          </a:xfrm>
          <a:prstGeom prst="rect">
            <a:avLst/>
          </a:prstGeom>
          <a:noFill/>
          <a:ln/>
        </p:spPr>
        <p:txBody>
          <a:bodyPr wrap="none" lIns="0" tIns="0" rIns="0" bIns="0" rtlCol="0" anchor="t"/>
          <a:lstStyle/>
          <a:p>
            <a:pPr algn="l" indent="0" marL="0">
              <a:lnSpc>
                <a:spcPct val="100000"/>
              </a:lnSpc>
              <a:buNone/>
            </a:pPr>
            <a:r>
              <a:rPr lang="en-US" sz="1450" b="1" dirty="0">
                <a:solidFill>
                  <a:srgbClr val="1A1F26"/>
                </a:solidFill>
                <a:latin typeface="Atkinson Hyperlegible Next Bold" pitchFamily="34" charset="0"/>
                <a:ea typeface="Atkinson Hyperlegible Next Bold" pitchFamily="34" charset="-122"/>
                <a:cs typeface="Atkinson Hyperlegible Next Bold" pitchFamily="34" charset="-120"/>
              </a:rPr>
              <a:t>Hash-based duplicate detection</a:t>
            </a:r>
            <a:endParaRPr lang="en-US" sz="1450" dirty="0"/>
          </a:p>
        </p:txBody>
      </p:sp>
      <p:sp>
        <p:nvSpPr>
          <p:cNvPr id="14" name="Shape 8"/>
          <p:cNvSpPr/>
          <p:nvPr/>
        </p:nvSpPr>
        <p:spPr>
          <a:xfrm>
            <a:off x="6248244" y="1369616"/>
            <a:ext cx="5333867" cy="4726384"/>
          </a:xfrm>
          <a:prstGeom prst="roundRect">
            <a:avLst>
              <a:gd name="adj" fmla="val 1612"/>
            </a:avLst>
          </a:prstGeom>
          <a:solidFill>
            <a:srgbClr val="E8E5FA"/>
          </a:solidFill>
          <a:ln w="12700">
            <a:solidFill>
              <a:srgbClr val="4C3BCF"/>
            </a:solidFill>
            <a:prstDash val="solid"/>
          </a:ln>
        </p:spPr>
      </p:sp>
      <p:sp>
        <p:nvSpPr>
          <p:cNvPr id="15" name="Text 9"/>
          <p:cNvSpPr/>
          <p:nvPr/>
        </p:nvSpPr>
        <p:spPr>
          <a:xfrm>
            <a:off x="6489538" y="1614091"/>
            <a:ext cx="5092573" cy="159941"/>
          </a:xfrm>
          <a:prstGeom prst="rect">
            <a:avLst/>
          </a:prstGeom>
          <a:noFill/>
          <a:ln/>
        </p:spPr>
        <p:txBody>
          <a:bodyPr wrap="none" lIns="0" tIns="0" rIns="0" bIns="0" rtlCol="0" anchor="t"/>
          <a:lstStyle/>
          <a:p>
            <a:pPr algn="l" indent="0" marL="0">
              <a:lnSpc>
                <a:spcPct val="100000"/>
              </a:lnSpc>
              <a:buNone/>
            </a:pPr>
            <a:r>
              <a:rPr lang="en-US" sz="1050" b="1" spc="63" kern="100" dirty="0">
                <a:solidFill>
                  <a:srgbClr val="000000"/>
                </a:solidFill>
                <a:latin typeface="B612 Mono Bold" pitchFamily="34" charset="0"/>
                <a:ea typeface="B612 Mono Bold" pitchFamily="34" charset="-122"/>
                <a:cs typeface="B612 Mono Bold" pitchFamily="34" charset="-120"/>
              </a:rPr>
              <a:t>INNOVATION</a:t>
            </a:r>
            <a:endParaRPr lang="en-US" sz="1050" dirty="0"/>
          </a:p>
        </p:txBody>
      </p:sp>
      <p:pic>
        <p:nvPicPr>
          <p:cNvPr id="16" name="Image 4" descr="preencoded.png">    </p:cNvPr>
          <p:cNvPicPr>
            <a:picLocks noChangeAspect="1"/>
          </p:cNvPicPr>
          <p:nvPr/>
        </p:nvPicPr>
        <p:blipFill>
          <a:blip r:embed="rId5"/>
          <a:stretch>
            <a:fillRect/>
          </a:stretch>
        </p:blipFill>
        <p:spPr>
          <a:xfrm>
            <a:off x="6533987" y="1878826"/>
            <a:ext cx="266693" cy="355600"/>
          </a:xfrm>
          <a:prstGeom prst="rect">
            <a:avLst/>
          </a:prstGeom>
        </p:spPr>
      </p:pic>
      <p:sp>
        <p:nvSpPr>
          <p:cNvPr id="17" name="Text 10"/>
          <p:cNvSpPr/>
          <p:nvPr/>
        </p:nvSpPr>
        <p:spPr>
          <a:xfrm>
            <a:off x="7022924" y="1885474"/>
            <a:ext cx="4317892" cy="220960"/>
          </a:xfrm>
          <a:prstGeom prst="rect">
            <a:avLst/>
          </a:prstGeom>
          <a:noFill/>
          <a:ln/>
        </p:spPr>
        <p:txBody>
          <a:bodyPr wrap="none" lIns="0" tIns="0" rIns="0" bIns="0" rtlCol="0" anchor="t"/>
          <a:lstStyle/>
          <a:p>
            <a:pPr algn="l" indent="0" marL="0">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120"/>
              </a:rPr>
              <a:t>Hybrid exact + fuzzy skill matching</a:t>
            </a:r>
            <a:endParaRPr lang="en-US" sz="1450" dirty="0"/>
          </a:p>
        </p:txBody>
      </p:sp>
      <p:sp>
        <p:nvSpPr>
          <p:cNvPr id="18" name="Text 11"/>
          <p:cNvSpPr/>
          <p:nvPr/>
        </p:nvSpPr>
        <p:spPr>
          <a:xfrm>
            <a:off x="7022924" y="2917547"/>
            <a:ext cx="4317892" cy="220960"/>
          </a:xfrm>
          <a:prstGeom prst="rect">
            <a:avLst/>
          </a:prstGeom>
          <a:noFill/>
          <a:ln/>
        </p:spPr>
        <p:txBody>
          <a:bodyPr wrap="none" lIns="0" tIns="0" rIns="0" bIns="0" rtlCol="0" anchor="t"/>
          <a:lstStyle/>
          <a:p>
            <a:pPr algn="l" indent="0" marL="0">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120"/>
              </a:rPr>
              <a:t>Explainable matched/missing skills</a:t>
            </a:r>
            <a:endParaRPr lang="en-US" sz="1450" dirty="0"/>
          </a:p>
        </p:txBody>
      </p:sp>
      <p:pic>
        <p:nvPicPr>
          <p:cNvPr id="19" name="Image 5" descr="preencoded.png">    </p:cNvPr>
          <p:cNvPicPr>
            <a:picLocks noChangeAspect="1"/>
          </p:cNvPicPr>
          <p:nvPr/>
        </p:nvPicPr>
        <p:blipFill>
          <a:blip r:embed="rId6"/>
          <a:stretch>
            <a:fillRect/>
          </a:stretch>
        </p:blipFill>
        <p:spPr>
          <a:xfrm>
            <a:off x="6489538" y="3942973"/>
            <a:ext cx="355591" cy="355600"/>
          </a:xfrm>
          <a:prstGeom prst="rect">
            <a:avLst/>
          </a:prstGeom>
        </p:spPr>
      </p:pic>
      <p:sp>
        <p:nvSpPr>
          <p:cNvPr id="20" name="Text 12"/>
          <p:cNvSpPr/>
          <p:nvPr/>
        </p:nvSpPr>
        <p:spPr>
          <a:xfrm>
            <a:off x="7022924" y="3949621"/>
            <a:ext cx="4317892" cy="220960"/>
          </a:xfrm>
          <a:prstGeom prst="rect">
            <a:avLst/>
          </a:prstGeom>
          <a:noFill/>
          <a:ln/>
        </p:spPr>
        <p:txBody>
          <a:bodyPr wrap="none" lIns="0" tIns="0" rIns="0" bIns="0" rtlCol="0" anchor="t"/>
          <a:lstStyle/>
          <a:p>
            <a:pPr algn="l" indent="0" marL="0">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120"/>
              </a:rPr>
              <a:t>Automated ranking across multiple resumes</a:t>
            </a:r>
            <a:endParaRPr lang="en-US" sz="1450" dirty="0"/>
          </a:p>
        </p:txBody>
      </p:sp>
      <p:pic>
        <p:nvPicPr>
          <p:cNvPr id="21" name="Image 6" descr="preencoded.png">    </p:cNvPr>
          <p:cNvPicPr>
            <a:picLocks noChangeAspect="1"/>
          </p:cNvPicPr>
          <p:nvPr/>
        </p:nvPicPr>
        <p:blipFill>
          <a:blip r:embed="rId7"/>
          <a:stretch>
            <a:fillRect/>
          </a:stretch>
        </p:blipFill>
        <p:spPr>
          <a:xfrm>
            <a:off x="6489538" y="4975046"/>
            <a:ext cx="355591" cy="355600"/>
          </a:xfrm>
          <a:prstGeom prst="rect">
            <a:avLst/>
          </a:prstGeom>
        </p:spPr>
      </p:pic>
      <p:sp>
        <p:nvSpPr>
          <p:cNvPr id="22" name="Text 13"/>
          <p:cNvSpPr/>
          <p:nvPr/>
        </p:nvSpPr>
        <p:spPr>
          <a:xfrm>
            <a:off x="7022924" y="4981694"/>
            <a:ext cx="4317892" cy="220960"/>
          </a:xfrm>
          <a:prstGeom prst="rect">
            <a:avLst/>
          </a:prstGeom>
          <a:noFill/>
          <a:ln/>
        </p:spPr>
        <p:txBody>
          <a:bodyPr wrap="none" lIns="0" tIns="0" rIns="0" bIns="0" rtlCol="0" anchor="t"/>
          <a:lstStyle/>
          <a:p>
            <a:pPr algn="l" indent="0" marL="0">
              <a:lnSpc>
                <a:spcPct val="100000"/>
              </a:lnSpc>
              <a:buNone/>
            </a:pPr>
            <a:r>
              <a:rPr lang="en-US" sz="1450" b="1" dirty="0">
                <a:solidFill>
                  <a:srgbClr val="000000"/>
                </a:solidFill>
                <a:latin typeface="Atkinson Hyperlegible Next Bold" pitchFamily="34" charset="0"/>
                <a:ea typeface="Atkinson Hyperlegible Next Bold" pitchFamily="34" charset="-122"/>
                <a:cs typeface="Atkinson Hyperlegible Next Bold" pitchFamily="34" charset="-120"/>
              </a:rPr>
              <a:t>Less repetitive manual screening</a:t>
            </a:r>
            <a:endParaRPr lang="en-US" sz="1450" dirty="0"/>
          </a:p>
        </p:txBody>
      </p:sp>
      <p:pic>
        <p:nvPicPr>
          <p:cNvPr id="23" name="Image 7" descr="preencoded.png">    </p:cNvPr>
          <p:cNvPicPr>
            <a:picLocks noChangeAspect="1"/>
          </p:cNvPicPr>
          <p:nvPr/>
        </p:nvPicPr>
        <p:blipFill>
          <a:blip r:embed="rId8"/>
          <a:stretch>
            <a:fillRect/>
          </a:stretch>
        </p:blipFill>
        <p:spPr>
          <a:xfrm>
            <a:off x="609585" y="6350000"/>
            <a:ext cx="10972526" cy="63500"/>
          </a:xfrm>
          <a:prstGeom prst="rect">
            <a:avLst/>
          </a:prstGeom>
        </p:spPr>
      </p:pic>
      <p:sp>
        <p:nvSpPr>
          <p:cNvPr id="24" name="Text 14"/>
          <p:cNvSpPr/>
          <p:nvPr/>
        </p:nvSpPr>
        <p:spPr>
          <a:xfrm>
            <a:off x="172438" y="6481465"/>
            <a:ext cx="2836792"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AI RESUME SCREENING SYSTEM</a:t>
            </a:r>
            <a:endParaRPr lang="en-US" sz="950" dirty="0"/>
          </a:p>
        </p:txBody>
      </p:sp>
      <p:sp>
        <p:nvSpPr>
          <p:cNvPr id="25" name="Text 15"/>
          <p:cNvSpPr/>
          <p:nvPr/>
        </p:nvSpPr>
        <p:spPr>
          <a:xfrm>
            <a:off x="11419495" y="6481465"/>
            <a:ext cx="772200"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08 / 10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algn="l" indent="0" marL="0">
              <a:lnSpc>
                <a:spcPct val="100000"/>
              </a:lnSpc>
              <a:buNone/>
            </a:pPr>
            <a:r>
              <a:rPr lang="en-US" sz="1050" spc="84" kern="100" dirty="0">
                <a:solidFill>
                  <a:srgbClr val="5B6570"/>
                </a:solidFill>
                <a:latin typeface="B612 Mono" pitchFamily="34" charset="0"/>
                <a:ea typeface="B612 Mono" pitchFamily="34" charset="-122"/>
                <a:cs typeface="B612 Mono" pitchFamily="34" charset="-120"/>
              </a:rPr>
              <a:t>SOCIAL UTILITY</a:t>
            </a:r>
            <a:endParaRPr lang="en-US" sz="1050" dirty="0"/>
          </a:p>
        </p:txBody>
      </p:sp>
      <p:sp>
        <p:nvSpPr>
          <p:cNvPr id="3" name="Text 1"/>
          <p:cNvSpPr/>
          <p:nvPr/>
        </p:nvSpPr>
        <p:spPr>
          <a:xfrm>
            <a:off x="609585" y="858440"/>
            <a:ext cx="10972526" cy="349250"/>
          </a:xfrm>
          <a:prstGeom prst="rect">
            <a:avLst/>
          </a:prstGeom>
          <a:noFill/>
          <a:ln/>
        </p:spPr>
        <p:txBody>
          <a:bodyPr wrap="none" lIns="0" tIns="0" rIns="0" bIns="0" rtlCol="0" anchor="t"/>
          <a:lstStyle/>
          <a:p>
            <a:pPr algn="l" indent="0" marL="0">
              <a:lnSpc>
                <a:spcPct val="92000"/>
              </a:lnSpc>
              <a:buNone/>
            </a:pPr>
            <a:r>
              <a:rPr lang="en-US" sz="2500" b="1" spc="-25" kern="100" dirty="0">
                <a:solidFill>
                  <a:srgbClr val="1A1F26"/>
                </a:solidFill>
                <a:latin typeface="B612 Bold" pitchFamily="34" charset="0"/>
                <a:ea typeface="B612 Bold" pitchFamily="34" charset="-122"/>
                <a:cs typeface="B612 Bold" pitchFamily="34" charset="-120"/>
              </a:rPr>
              <a:t>One workflow creates value for three groups</a:t>
            </a:r>
            <a:endParaRPr lang="en-US" sz="2500" dirty="0"/>
          </a:p>
        </p:txBody>
      </p:sp>
      <p:sp>
        <p:nvSpPr>
          <p:cNvPr id="4" name="Shape 2"/>
          <p:cNvSpPr/>
          <p:nvPr/>
        </p:nvSpPr>
        <p:spPr>
          <a:xfrm>
            <a:off x="609585" y="1369616"/>
            <a:ext cx="3454314" cy="4360069"/>
          </a:xfrm>
          <a:prstGeom prst="roundRect">
            <a:avLst>
              <a:gd name="adj" fmla="val 2206"/>
            </a:avLst>
          </a:prstGeom>
          <a:noFill/>
          <a:ln w="12700">
            <a:solidFill>
              <a:srgbClr val="1A1F26"/>
            </a:solidFill>
            <a:prstDash val="solid"/>
          </a:ln>
        </p:spPr>
      </p:sp>
      <p:pic>
        <p:nvPicPr>
          <p:cNvPr id="5" name="Image 0" descr="preencoded.png">    </p:cNvPr>
          <p:cNvPicPr>
            <a:picLocks noChangeAspect="1"/>
          </p:cNvPicPr>
          <p:nvPr/>
        </p:nvPicPr>
        <p:blipFill>
          <a:blip r:embed="rId1"/>
          <a:stretch>
            <a:fillRect/>
          </a:stretch>
        </p:blipFill>
        <p:spPr>
          <a:xfrm>
            <a:off x="850879" y="1610916"/>
            <a:ext cx="355591" cy="355600"/>
          </a:xfrm>
          <a:prstGeom prst="rect">
            <a:avLst/>
          </a:prstGeom>
        </p:spPr>
      </p:pic>
      <p:sp>
        <p:nvSpPr>
          <p:cNvPr id="6" name="Text 3"/>
          <p:cNvSpPr/>
          <p:nvPr/>
        </p:nvSpPr>
        <p:spPr>
          <a:xfrm>
            <a:off x="850879" y="2077641"/>
            <a:ext cx="3213020" cy="159941"/>
          </a:xfrm>
          <a:prstGeom prst="rect">
            <a:avLst/>
          </a:prstGeom>
          <a:noFill/>
          <a:ln/>
        </p:spPr>
        <p:txBody>
          <a:bodyPr wrap="none" lIns="0" tIns="0" rIns="0" bIns="0" rtlCol="0" anchor="t"/>
          <a:lstStyle/>
          <a:p>
            <a:pPr algn="l" indent="0" marL="0">
              <a:lnSpc>
                <a:spcPct val="100000"/>
              </a:lnSpc>
              <a:buNone/>
            </a:pPr>
            <a:r>
              <a:rPr lang="en-US" sz="1050" b="1" spc="63" kern="100" dirty="0">
                <a:solidFill>
                  <a:srgbClr val="5B6570"/>
                </a:solidFill>
                <a:latin typeface="B612 Mono Bold" pitchFamily="34" charset="0"/>
                <a:ea typeface="B612 Mono Bold" pitchFamily="34" charset="-122"/>
                <a:cs typeface="B612 Mono Bold" pitchFamily="34" charset="-120"/>
              </a:rPr>
              <a:t>RECRUITERS</a:t>
            </a:r>
            <a:endParaRPr lang="en-US" sz="1050" dirty="0"/>
          </a:p>
        </p:txBody>
      </p:sp>
      <p:sp>
        <p:nvSpPr>
          <p:cNvPr id="7" name="Text 4"/>
          <p:cNvSpPr/>
          <p:nvPr/>
        </p:nvSpPr>
        <p:spPr>
          <a:xfrm>
            <a:off x="850879" y="2311865"/>
            <a:ext cx="2971726" cy="259060"/>
          </a:xfrm>
          <a:prstGeom prst="rect">
            <a:avLst/>
          </a:prstGeom>
          <a:noFill/>
          <a:ln/>
        </p:spPr>
        <p:txBody>
          <a:bodyPr wrap="none" lIns="0" tIns="0" rIns="0" bIns="0" rtlCol="0" anchor="t"/>
          <a:lstStyle/>
          <a:p>
            <a:pPr algn="l" indent="0" marL="0">
              <a:lnSpc>
                <a:spcPct val="100000"/>
              </a:lnSpc>
              <a:buNone/>
            </a:pPr>
            <a:r>
              <a:rPr lang="en-US" sz="1700" b="1" dirty="0">
                <a:solidFill>
                  <a:srgbClr val="1A1F26"/>
                </a:solidFill>
                <a:latin typeface="Atkinson Hyperlegible Next Bold" pitchFamily="34" charset="0"/>
                <a:ea typeface="Atkinson Hyperlegible Next Bold" pitchFamily="34" charset="-122"/>
                <a:cs typeface="Atkinson Hyperlegible Next Bold" pitchFamily="34" charset="-120"/>
              </a:rPr>
              <a:t>Screen with less repetition</a:t>
            </a:r>
            <a:endParaRPr lang="en-US" sz="1700" dirty="0"/>
          </a:p>
        </p:txBody>
      </p:sp>
      <p:sp>
        <p:nvSpPr>
          <p:cNvPr id="8" name="Text 5"/>
          <p:cNvSpPr/>
          <p:nvPr/>
        </p:nvSpPr>
        <p:spPr>
          <a:xfrm>
            <a:off x="850879" y="2699841"/>
            <a:ext cx="2971726" cy="841772"/>
          </a:xfrm>
          <a:prstGeom prst="rect">
            <a:avLst/>
          </a:prstGeom>
          <a:noFill/>
          <a:ln/>
        </p:spPr>
        <p:txBody>
          <a:bodyPr wrap="square" lIns="0" tIns="0" rIns="0" bIns="0" rtlCol="0" anchor="t">
            <a:normAutofit/>
          </a:bodyPr>
          <a:lstStyle/>
          <a:p>
            <a:pPr algn="l" marL="284480" indent="-284480">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120"/>
              </a:rPr>
              <a:t>Save screening time</a:t>
            </a:r>
            <a:endParaRPr lang="en-US" sz="1400" dirty="0"/>
          </a:p>
          <a:p>
            <a:pPr algn="l" marL="284480" indent="-284480">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120"/>
              </a:rPr>
              <a:t>Handle large resume volumes</a:t>
            </a:r>
            <a:endParaRPr lang="en-US" sz="1400" dirty="0"/>
          </a:p>
          <a:p>
            <a:pPr algn="l" marL="284480" indent="-284480">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120"/>
              </a:rPr>
              <a:t>Receive structured ranking</a:t>
            </a:r>
            <a:endParaRPr lang="en-US" sz="1400" dirty="0"/>
          </a:p>
        </p:txBody>
      </p:sp>
      <p:sp>
        <p:nvSpPr>
          <p:cNvPr id="9" name="Shape 6"/>
          <p:cNvSpPr/>
          <p:nvPr/>
        </p:nvSpPr>
        <p:spPr>
          <a:xfrm>
            <a:off x="4368691" y="1369616"/>
            <a:ext cx="3454314" cy="4360069"/>
          </a:xfrm>
          <a:prstGeom prst="roundRect">
            <a:avLst>
              <a:gd name="adj" fmla="val 2206"/>
            </a:avLst>
          </a:prstGeom>
          <a:solidFill>
            <a:srgbClr val="E8E5FA"/>
          </a:solidFill>
          <a:ln w="12700">
            <a:solidFill>
              <a:srgbClr val="4C3BCF"/>
            </a:solidFill>
            <a:prstDash val="solid"/>
          </a:ln>
        </p:spPr>
      </p:sp>
      <p:pic>
        <p:nvPicPr>
          <p:cNvPr id="10" name="Image 1" descr="preencoded.png">    </p:cNvPr>
          <p:cNvPicPr>
            <a:picLocks noChangeAspect="1"/>
          </p:cNvPicPr>
          <p:nvPr/>
        </p:nvPicPr>
        <p:blipFill>
          <a:blip r:embed="rId2"/>
          <a:stretch>
            <a:fillRect/>
          </a:stretch>
        </p:blipFill>
        <p:spPr>
          <a:xfrm>
            <a:off x="4609985" y="1610916"/>
            <a:ext cx="355591" cy="355600"/>
          </a:xfrm>
          <a:prstGeom prst="rect">
            <a:avLst/>
          </a:prstGeom>
        </p:spPr>
      </p:pic>
      <p:sp>
        <p:nvSpPr>
          <p:cNvPr id="11" name="Text 7"/>
          <p:cNvSpPr/>
          <p:nvPr/>
        </p:nvSpPr>
        <p:spPr>
          <a:xfrm>
            <a:off x="4609985" y="2077641"/>
            <a:ext cx="3213020" cy="159941"/>
          </a:xfrm>
          <a:prstGeom prst="rect">
            <a:avLst/>
          </a:prstGeom>
          <a:noFill/>
          <a:ln/>
        </p:spPr>
        <p:txBody>
          <a:bodyPr wrap="none" lIns="0" tIns="0" rIns="0" bIns="0" rtlCol="0" anchor="t"/>
          <a:lstStyle/>
          <a:p>
            <a:pPr algn="l" indent="0" marL="0">
              <a:lnSpc>
                <a:spcPct val="100000"/>
              </a:lnSpc>
              <a:buNone/>
            </a:pPr>
            <a:r>
              <a:rPr lang="en-US" sz="1050" b="1" spc="63" kern="100" dirty="0">
                <a:solidFill>
                  <a:srgbClr val="000000"/>
                </a:solidFill>
                <a:latin typeface="B612 Mono Bold" pitchFamily="34" charset="0"/>
                <a:ea typeface="B612 Mono Bold" pitchFamily="34" charset="-122"/>
                <a:cs typeface="B612 Mono Bold" pitchFamily="34" charset="-120"/>
              </a:rPr>
              <a:t>ORGANIZATIONS</a:t>
            </a:r>
            <a:endParaRPr lang="en-US" sz="1050" dirty="0"/>
          </a:p>
        </p:txBody>
      </p:sp>
      <p:sp>
        <p:nvSpPr>
          <p:cNvPr id="12" name="Text 8"/>
          <p:cNvSpPr/>
          <p:nvPr/>
        </p:nvSpPr>
        <p:spPr>
          <a:xfrm>
            <a:off x="4609985" y="2311865"/>
            <a:ext cx="2971726" cy="259060"/>
          </a:xfrm>
          <a:prstGeom prst="rect">
            <a:avLst/>
          </a:prstGeom>
          <a:noFill/>
          <a:ln/>
        </p:spPr>
        <p:txBody>
          <a:bodyPr wrap="none" lIns="0" tIns="0" rIns="0" bIns="0" rtlCol="0" anchor="t"/>
          <a:lstStyle/>
          <a:p>
            <a:pPr algn="l" indent="0" marL="0">
              <a:lnSpc>
                <a:spcPct val="100000"/>
              </a:lnSpc>
              <a:buNone/>
            </a:pPr>
            <a:r>
              <a:rPr lang="en-US" sz="1700" b="1" dirty="0">
                <a:solidFill>
                  <a:srgbClr val="000000"/>
                </a:solidFill>
                <a:latin typeface="Atkinson Hyperlegible Next Bold" pitchFamily="34" charset="0"/>
                <a:ea typeface="Atkinson Hyperlegible Next Bold" pitchFamily="34" charset="-122"/>
                <a:cs typeface="Atkinson Hyperlegible Next Bold" pitchFamily="34" charset="-120"/>
              </a:rPr>
              <a:t>Compare more consistently</a:t>
            </a:r>
            <a:endParaRPr lang="en-US" sz="1700" dirty="0"/>
          </a:p>
        </p:txBody>
      </p:sp>
      <p:sp>
        <p:nvSpPr>
          <p:cNvPr id="13" name="Text 9"/>
          <p:cNvSpPr/>
          <p:nvPr/>
        </p:nvSpPr>
        <p:spPr>
          <a:xfrm>
            <a:off x="4609985" y="2699841"/>
            <a:ext cx="2971726" cy="1042988"/>
          </a:xfrm>
          <a:prstGeom prst="rect">
            <a:avLst/>
          </a:prstGeom>
          <a:noFill/>
          <a:ln/>
        </p:spPr>
        <p:txBody>
          <a:bodyPr wrap="square" lIns="0" tIns="0" rIns="0" bIns="0" rtlCol="0" anchor="t">
            <a:normAutofit/>
          </a:bodyPr>
          <a:lstStyle/>
          <a:p>
            <a:pPr algn="l" marL="284480" indent="-284480">
              <a:lnSpc>
                <a:spcPct val="117000"/>
              </a:lnSpc>
              <a:buSzPct val="100000"/>
              <a:buChar char="•"/>
            </a:pPr>
            <a:r>
              <a:rPr lang="en-US" sz="1400" dirty="0">
                <a:solidFill>
                  <a:srgbClr val="000000"/>
                </a:solidFill>
                <a:latin typeface="Atkinson Hyperlegible Next" pitchFamily="34" charset="0"/>
                <a:ea typeface="Atkinson Hyperlegible Next" pitchFamily="34" charset="-122"/>
                <a:cs typeface="Atkinson Hyperlegible Next" pitchFamily="34" charset="-120"/>
              </a:rPr>
              <a:t>Faster, more consistent comparison</a:t>
            </a:r>
            <a:endParaRPr lang="en-US" sz="1400" dirty="0"/>
          </a:p>
          <a:p>
            <a:pPr algn="l" marL="284480" indent="-284480">
              <a:lnSpc>
                <a:spcPct val="117000"/>
              </a:lnSpc>
              <a:buSzPct val="100000"/>
              <a:buChar char="•"/>
            </a:pPr>
            <a:r>
              <a:rPr lang="en-US" sz="1400" dirty="0">
                <a:solidFill>
                  <a:srgbClr val="000000"/>
                </a:solidFill>
                <a:latin typeface="Atkinson Hyperlegible Next" pitchFamily="34" charset="0"/>
                <a:ea typeface="Atkinson Hyperlegible Next" pitchFamily="34" charset="-122"/>
                <a:cs typeface="Atkinson Hyperlegible Next" pitchFamily="34" charset="-120"/>
              </a:rPr>
              <a:t>More efficient recruitment workflow</a:t>
            </a:r>
            <a:endParaRPr lang="en-US" sz="1400" dirty="0"/>
          </a:p>
        </p:txBody>
      </p:sp>
      <p:sp>
        <p:nvSpPr>
          <p:cNvPr id="14" name="Shape 10"/>
          <p:cNvSpPr/>
          <p:nvPr/>
        </p:nvSpPr>
        <p:spPr>
          <a:xfrm>
            <a:off x="8127797" y="1369616"/>
            <a:ext cx="3454314" cy="4360069"/>
          </a:xfrm>
          <a:prstGeom prst="roundRect">
            <a:avLst>
              <a:gd name="adj" fmla="val 2206"/>
            </a:avLst>
          </a:prstGeom>
          <a:noFill/>
          <a:ln w="12700">
            <a:solidFill>
              <a:srgbClr val="1A1F26"/>
            </a:solidFill>
            <a:prstDash val="solid"/>
          </a:ln>
        </p:spPr>
      </p:sp>
      <p:pic>
        <p:nvPicPr>
          <p:cNvPr id="15" name="Image 2" descr="preencoded.png">    </p:cNvPr>
          <p:cNvPicPr>
            <a:picLocks noChangeAspect="1"/>
          </p:cNvPicPr>
          <p:nvPr/>
        </p:nvPicPr>
        <p:blipFill>
          <a:blip r:embed="rId3"/>
          <a:stretch>
            <a:fillRect/>
          </a:stretch>
        </p:blipFill>
        <p:spPr>
          <a:xfrm>
            <a:off x="8369091" y="1610916"/>
            <a:ext cx="355591" cy="355600"/>
          </a:xfrm>
          <a:prstGeom prst="rect">
            <a:avLst/>
          </a:prstGeom>
        </p:spPr>
      </p:pic>
      <p:sp>
        <p:nvSpPr>
          <p:cNvPr id="16" name="Text 11"/>
          <p:cNvSpPr/>
          <p:nvPr/>
        </p:nvSpPr>
        <p:spPr>
          <a:xfrm>
            <a:off x="8369091" y="2077641"/>
            <a:ext cx="3213020" cy="159941"/>
          </a:xfrm>
          <a:prstGeom prst="rect">
            <a:avLst/>
          </a:prstGeom>
          <a:noFill/>
          <a:ln/>
        </p:spPr>
        <p:txBody>
          <a:bodyPr wrap="none" lIns="0" tIns="0" rIns="0" bIns="0" rtlCol="0" anchor="t"/>
          <a:lstStyle/>
          <a:p>
            <a:pPr algn="l" indent="0" marL="0">
              <a:lnSpc>
                <a:spcPct val="100000"/>
              </a:lnSpc>
              <a:buNone/>
            </a:pPr>
            <a:r>
              <a:rPr lang="en-US" sz="1050" b="1" spc="63" kern="100" dirty="0">
                <a:solidFill>
                  <a:srgbClr val="5B6570"/>
                </a:solidFill>
                <a:latin typeface="B612 Mono Bold" pitchFamily="34" charset="0"/>
                <a:ea typeface="B612 Mono Bold" pitchFamily="34" charset="-122"/>
                <a:cs typeface="B612 Mono Bold" pitchFamily="34" charset="-120"/>
              </a:rPr>
              <a:t>CANDIDATES</a:t>
            </a:r>
            <a:endParaRPr lang="en-US" sz="1050" dirty="0"/>
          </a:p>
        </p:txBody>
      </p:sp>
      <p:sp>
        <p:nvSpPr>
          <p:cNvPr id="17" name="Text 12"/>
          <p:cNvSpPr/>
          <p:nvPr/>
        </p:nvSpPr>
        <p:spPr>
          <a:xfrm>
            <a:off x="8369091" y="2311865"/>
            <a:ext cx="2971726" cy="259060"/>
          </a:xfrm>
          <a:prstGeom prst="rect">
            <a:avLst/>
          </a:prstGeom>
          <a:noFill/>
          <a:ln/>
        </p:spPr>
        <p:txBody>
          <a:bodyPr wrap="none" lIns="0" tIns="0" rIns="0" bIns="0" rtlCol="0" anchor="t"/>
          <a:lstStyle/>
          <a:p>
            <a:pPr algn="l" indent="0" marL="0">
              <a:lnSpc>
                <a:spcPct val="100000"/>
              </a:lnSpc>
              <a:buNone/>
            </a:pPr>
            <a:r>
              <a:rPr lang="en-US" sz="1700" b="1" dirty="0">
                <a:solidFill>
                  <a:srgbClr val="1A1F26"/>
                </a:solidFill>
                <a:latin typeface="Atkinson Hyperlegible Next Bold" pitchFamily="34" charset="0"/>
                <a:ea typeface="Atkinson Hyperlegible Next Bold" pitchFamily="34" charset="-122"/>
                <a:cs typeface="Atkinson Hyperlegible Next Bold" pitchFamily="34" charset="-120"/>
              </a:rPr>
              <a:t>See the comparison</a:t>
            </a:r>
            <a:endParaRPr lang="en-US" sz="1700" dirty="0"/>
          </a:p>
        </p:txBody>
      </p:sp>
      <p:sp>
        <p:nvSpPr>
          <p:cNvPr id="18" name="Text 13"/>
          <p:cNvSpPr/>
          <p:nvPr/>
        </p:nvSpPr>
        <p:spPr>
          <a:xfrm>
            <a:off x="8369091" y="2699841"/>
            <a:ext cx="2971726" cy="1042988"/>
          </a:xfrm>
          <a:prstGeom prst="rect">
            <a:avLst/>
          </a:prstGeom>
          <a:noFill/>
          <a:ln/>
        </p:spPr>
        <p:txBody>
          <a:bodyPr wrap="square" lIns="0" tIns="0" rIns="0" bIns="0" rtlCol="0" anchor="t">
            <a:normAutofit/>
          </a:bodyPr>
          <a:lstStyle/>
          <a:p>
            <a:pPr algn="l" marL="284480" indent="-284480">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120"/>
              </a:rPr>
              <a:t>See skills compared with job requirements</a:t>
            </a:r>
            <a:endParaRPr lang="en-US" sz="1400" dirty="0"/>
          </a:p>
          <a:p>
            <a:pPr algn="l" marL="284480" indent="-284480">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120"/>
              </a:rPr>
              <a:t>Understand matched and missing skills</a:t>
            </a:r>
            <a:endParaRPr lang="en-US" sz="1400" dirty="0"/>
          </a:p>
        </p:txBody>
      </p:sp>
      <p:sp>
        <p:nvSpPr>
          <p:cNvPr id="19" name="Text 14"/>
          <p:cNvSpPr/>
          <p:nvPr/>
        </p:nvSpPr>
        <p:spPr>
          <a:xfrm>
            <a:off x="609585" y="5907484"/>
            <a:ext cx="11582110" cy="188516"/>
          </a:xfrm>
          <a:prstGeom prst="rect">
            <a:avLst/>
          </a:prstGeom>
          <a:noFill/>
          <a:ln/>
        </p:spPr>
        <p:txBody>
          <a:bodyPr wrap="none" lIns="0" tIns="0" rIns="0" bIns="0" rtlCol="0" anchor="t"/>
          <a:lstStyle/>
          <a:p>
            <a:pPr algn="l" indent="0" marL="0">
              <a:lnSpc>
                <a:spcPct val="112000"/>
              </a:lnSpc>
              <a:buNone/>
            </a:pPr>
            <a:r>
              <a:rPr lang="en-US" sz="1100" dirty="0">
                <a:solidFill>
                  <a:srgbClr val="5B6570"/>
                </a:solidFill>
                <a:latin typeface="Atkinson Hyperlegible Next" pitchFamily="34" charset="0"/>
                <a:ea typeface="Atkinson Hyperlegible Next" pitchFamily="34" charset="-122"/>
                <a:cs typeface="Atkinson Hyperlegible Next" pitchFamily="34" charset="-120"/>
              </a:rPr>
              <a:t>Evaluation lens: results · DSA competence · innovation · social utility · presentation</a:t>
            </a:r>
            <a:endParaRPr lang="en-US" sz="1100" dirty="0"/>
          </a:p>
        </p:txBody>
      </p:sp>
      <p:pic>
        <p:nvPicPr>
          <p:cNvPr id="20" name="Image 3" descr="preencoded.png">    </p:cNvPr>
          <p:cNvPicPr>
            <a:picLocks noChangeAspect="1"/>
          </p:cNvPicPr>
          <p:nvPr/>
        </p:nvPicPr>
        <p:blipFill>
          <a:blip r:embed="rId4"/>
          <a:stretch>
            <a:fillRect/>
          </a:stretch>
        </p:blipFill>
        <p:spPr>
          <a:xfrm>
            <a:off x="609585" y="6350000"/>
            <a:ext cx="10972526" cy="63500"/>
          </a:xfrm>
          <a:prstGeom prst="rect">
            <a:avLst/>
          </a:prstGeom>
        </p:spPr>
      </p:pic>
      <p:sp>
        <p:nvSpPr>
          <p:cNvPr id="21" name="Text 15"/>
          <p:cNvSpPr/>
          <p:nvPr/>
        </p:nvSpPr>
        <p:spPr>
          <a:xfrm>
            <a:off x="172438" y="6481465"/>
            <a:ext cx="2836792"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AI RESUME SCREENING SYSTEM</a:t>
            </a:r>
            <a:endParaRPr lang="en-US" sz="950" dirty="0"/>
          </a:p>
        </p:txBody>
      </p:sp>
      <p:sp>
        <p:nvSpPr>
          <p:cNvPr id="22" name="Text 16"/>
          <p:cNvSpPr/>
          <p:nvPr/>
        </p:nvSpPr>
        <p:spPr>
          <a:xfrm>
            <a:off x="11419495" y="6481465"/>
            <a:ext cx="772200"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09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algn="l" indent="0" marL="0">
              <a:lnSpc>
                <a:spcPct val="100000"/>
              </a:lnSpc>
              <a:buNone/>
            </a:pPr>
            <a:r>
              <a:rPr lang="en-US" sz="1050" spc="84" kern="100" dirty="0">
                <a:solidFill>
                  <a:srgbClr val="5B6570"/>
                </a:solidFill>
                <a:latin typeface="B612 Mono" pitchFamily="34" charset="0"/>
                <a:ea typeface="B612 Mono" pitchFamily="34" charset="-122"/>
                <a:cs typeface="B612 Mono" pitchFamily="34" charset="-120"/>
              </a:rPr>
              <a:t>FINAL REVIEW</a:t>
            </a:r>
            <a:endParaRPr lang="en-US" sz="1050" dirty="0"/>
          </a:p>
        </p:txBody>
      </p:sp>
      <p:sp>
        <p:nvSpPr>
          <p:cNvPr id="3" name="Text 1"/>
          <p:cNvSpPr/>
          <p:nvPr/>
        </p:nvSpPr>
        <p:spPr>
          <a:xfrm>
            <a:off x="609585" y="865084"/>
            <a:ext cx="10972526" cy="893961"/>
          </a:xfrm>
          <a:prstGeom prst="rect">
            <a:avLst/>
          </a:prstGeom>
          <a:noFill/>
          <a:ln/>
        </p:spPr>
        <p:txBody>
          <a:bodyPr wrap="square" lIns="0" tIns="0" rIns="0" bIns="0" rtlCol="0" anchor="t">
            <a:normAutofit/>
          </a:bodyPr>
          <a:lstStyle/>
          <a:p>
            <a:pPr algn="l" indent="0" marL="0">
              <a:lnSpc>
                <a:spcPct val="92000"/>
              </a:lnSpc>
              <a:buNone/>
            </a:pPr>
            <a:r>
              <a:rPr lang="en-US" sz="3200" b="1" spc="-32" kern="100" dirty="0">
                <a:solidFill>
                  <a:srgbClr val="1A1F26"/>
                </a:solidFill>
                <a:latin typeface="B612 Bold" pitchFamily="34" charset="0"/>
                <a:ea typeface="B612 Bold" pitchFamily="34" charset="-122"/>
                <a:cs typeface="B612 Bold" pitchFamily="34" charset="-120"/>
              </a:rPr>
              <a:t>DSA turns a recruitment bottleneck into a working system</a:t>
            </a:r>
            <a:endParaRPr lang="en-US" sz="3200" dirty="0"/>
          </a:p>
        </p:txBody>
      </p:sp>
      <p:sp>
        <p:nvSpPr>
          <p:cNvPr id="4" name="Shape 2"/>
          <p:cNvSpPr/>
          <p:nvPr/>
        </p:nvSpPr>
        <p:spPr>
          <a:xfrm>
            <a:off x="609585" y="1965127"/>
            <a:ext cx="6400640" cy="2185194"/>
          </a:xfrm>
          <a:prstGeom prst="rect">
            <a:avLst/>
          </a:prstGeom>
          <a:solidFill>
            <a:srgbClr val="E8E5FA"/>
          </a:solidFill>
          <a:ln/>
        </p:spPr>
      </p:sp>
      <p:sp>
        <p:nvSpPr>
          <p:cNvPr id="5" name="Text 3"/>
          <p:cNvSpPr/>
          <p:nvPr/>
        </p:nvSpPr>
        <p:spPr>
          <a:xfrm>
            <a:off x="914377" y="2244527"/>
            <a:ext cx="5791055" cy="746522"/>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Atkinson Hyperlegible Next" pitchFamily="34" charset="0"/>
                <a:ea typeface="Atkinson Hyperlegible Next" pitchFamily="34" charset="-122"/>
                <a:cs typeface="Atkinson Hyperlegible Next" pitchFamily="34" charset="-120"/>
              </a:rPr>
              <a:t>AI Resume Screening System demonstrates how Data Structures and Algorithms can automate skill matching, similarity calculation, and candidate ranking for a real-world recruitment problem.</a:t>
            </a:r>
            <a:endParaRPr lang="en-US" sz="1400" dirty="0"/>
          </a:p>
        </p:txBody>
      </p:sp>
      <p:sp>
        <p:nvSpPr>
          <p:cNvPr id="6" name="Shape 4"/>
          <p:cNvSpPr/>
          <p:nvPr/>
        </p:nvSpPr>
        <p:spPr>
          <a:xfrm>
            <a:off x="7314918" y="1965127"/>
            <a:ext cx="4267192" cy="2185194"/>
          </a:xfrm>
          <a:prstGeom prst="roundRect">
            <a:avLst>
              <a:gd name="adj" fmla="val 3487"/>
            </a:avLst>
          </a:prstGeom>
          <a:noFill/>
          <a:ln w="12700">
            <a:solidFill>
              <a:srgbClr val="1A1F26"/>
            </a:solidFill>
            <a:prstDash val="solid"/>
          </a:ln>
        </p:spPr>
      </p:sp>
      <p:sp>
        <p:nvSpPr>
          <p:cNvPr id="7" name="Text 5"/>
          <p:cNvSpPr/>
          <p:nvPr/>
        </p:nvSpPr>
        <p:spPr>
          <a:xfrm>
            <a:off x="7556212" y="2209602"/>
            <a:ext cx="4025899" cy="159941"/>
          </a:xfrm>
          <a:prstGeom prst="rect">
            <a:avLst/>
          </a:prstGeom>
          <a:noFill/>
          <a:ln/>
        </p:spPr>
        <p:txBody>
          <a:bodyPr wrap="none" lIns="0" tIns="0" rIns="0" bIns="0" rtlCol="0" anchor="t"/>
          <a:lstStyle/>
          <a:p>
            <a:pPr algn="l" indent="0" marL="0">
              <a:lnSpc>
                <a:spcPct val="100000"/>
              </a:lnSpc>
              <a:buNone/>
            </a:pPr>
            <a:r>
              <a:rPr lang="en-US" sz="1050" b="1" spc="63" kern="100" dirty="0">
                <a:solidFill>
                  <a:srgbClr val="5B6570"/>
                </a:solidFill>
                <a:latin typeface="B612 Mono Bold" pitchFamily="34" charset="0"/>
                <a:ea typeface="B612 Mono Bold" pitchFamily="34" charset="-122"/>
                <a:cs typeface="B612 Mono Bold" pitchFamily="34" charset="-120"/>
              </a:rPr>
              <a:t>FUTURE SCOPE</a:t>
            </a:r>
            <a:endParaRPr lang="en-US" sz="1050" dirty="0"/>
          </a:p>
        </p:txBody>
      </p:sp>
      <p:sp>
        <p:nvSpPr>
          <p:cNvPr id="8" name="Text 6"/>
          <p:cNvSpPr/>
          <p:nvPr/>
        </p:nvSpPr>
        <p:spPr>
          <a:xfrm>
            <a:off x="7556212" y="2474317"/>
            <a:ext cx="3784605" cy="1434703"/>
          </a:xfrm>
          <a:prstGeom prst="rect">
            <a:avLst/>
          </a:prstGeom>
          <a:noFill/>
          <a:ln/>
        </p:spPr>
        <p:txBody>
          <a:bodyPr wrap="square" lIns="0" tIns="0" rIns="0" bIns="0" rtlCol="0" anchor="t">
            <a:normAutofit/>
          </a:bodyPr>
          <a:lstStyle/>
          <a:p>
            <a:pPr algn="l" marL="284480" indent="-284480">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120"/>
              </a:rPr>
              <a:t>Support more resume formats</a:t>
            </a:r>
            <a:endParaRPr lang="en-US" sz="1400" dirty="0"/>
          </a:p>
          <a:p>
            <a:pPr algn="l" marL="284480" indent="-284480">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120"/>
              </a:rPr>
              <a:t>Improve skill extraction</a:t>
            </a:r>
            <a:endParaRPr lang="en-US" sz="1400" dirty="0"/>
          </a:p>
          <a:p>
            <a:pPr algn="l" marL="284480" indent="-284480">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120"/>
              </a:rPr>
              <a:t>Enhance ranking techniques</a:t>
            </a:r>
            <a:endParaRPr lang="en-US" sz="1400" dirty="0"/>
          </a:p>
          <a:p>
            <a:pPr algn="l" marL="284480" indent="-284480">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120"/>
              </a:rPr>
              <a:t>Improve scalability</a:t>
            </a:r>
            <a:endParaRPr lang="en-US" sz="1400" dirty="0"/>
          </a:p>
          <a:p>
            <a:pPr algn="l" marL="284480" indent="-284480">
              <a:lnSpc>
                <a:spcPct val="117000"/>
              </a:lnSpc>
              <a:buSzPct val="100000"/>
              <a:buChar char="•"/>
            </a:pPr>
            <a:r>
              <a:rPr lang="en-US" sz="1400" dirty="0">
                <a:solidFill>
                  <a:srgbClr val="2A313A"/>
                </a:solidFill>
                <a:latin typeface="Atkinson Hyperlegible Next" pitchFamily="34" charset="0"/>
                <a:ea typeface="Atkinson Hyperlegible Next" pitchFamily="34" charset="-122"/>
                <a:cs typeface="Atkinson Hyperlegible Next" pitchFamily="34" charset="-120"/>
              </a:rPr>
              <a:t>Add advanced recruiter analytics</a:t>
            </a:r>
            <a:endParaRPr lang="en-US" sz="1400" dirty="0"/>
          </a:p>
        </p:txBody>
      </p:sp>
      <p:sp>
        <p:nvSpPr>
          <p:cNvPr id="9" name="Shape 7"/>
          <p:cNvSpPr/>
          <p:nvPr/>
        </p:nvSpPr>
        <p:spPr>
          <a:xfrm>
            <a:off x="609585" y="5168900"/>
            <a:ext cx="12600" cy="152400"/>
          </a:xfrm>
          <a:prstGeom prst="rect">
            <a:avLst/>
          </a:prstGeom>
          <a:solidFill>
            <a:srgbClr val="4C3BCF"/>
          </a:solidFill>
          <a:ln/>
        </p:spPr>
      </p:sp>
      <p:sp>
        <p:nvSpPr>
          <p:cNvPr id="10" name="Shape 8"/>
          <p:cNvSpPr/>
          <p:nvPr/>
        </p:nvSpPr>
        <p:spPr>
          <a:xfrm>
            <a:off x="609585" y="5159375"/>
            <a:ext cx="3620798" cy="19050"/>
          </a:xfrm>
          <a:prstGeom prst="roundRect">
            <a:avLst>
              <a:gd name="adj" fmla="val 49999"/>
            </a:avLst>
          </a:prstGeom>
          <a:solidFill>
            <a:srgbClr val="4C3BCF"/>
          </a:solidFill>
          <a:ln/>
        </p:spPr>
      </p:sp>
      <p:sp>
        <p:nvSpPr>
          <p:cNvPr id="11" name="Shape 9"/>
          <p:cNvSpPr/>
          <p:nvPr/>
        </p:nvSpPr>
        <p:spPr>
          <a:xfrm>
            <a:off x="11569411" y="5168900"/>
            <a:ext cx="12600" cy="152400"/>
          </a:xfrm>
          <a:prstGeom prst="rect">
            <a:avLst/>
          </a:prstGeom>
          <a:solidFill>
            <a:srgbClr val="4C3BCF"/>
          </a:solidFill>
          <a:ln/>
        </p:spPr>
      </p:sp>
      <p:sp>
        <p:nvSpPr>
          <p:cNvPr id="12" name="Text 10"/>
          <p:cNvSpPr/>
          <p:nvPr/>
        </p:nvSpPr>
        <p:spPr>
          <a:xfrm>
            <a:off x="609585" y="5597525"/>
            <a:ext cx="10972526" cy="558800"/>
          </a:xfrm>
          <a:prstGeom prst="rect">
            <a:avLst/>
          </a:prstGeom>
          <a:noFill/>
          <a:ln/>
        </p:spPr>
        <p:txBody>
          <a:bodyPr wrap="none" lIns="0" tIns="0" rIns="0" bIns="0" rtlCol="0" anchor="t"/>
          <a:lstStyle/>
          <a:p>
            <a:pPr algn="l" indent="0" marL="0">
              <a:lnSpc>
                <a:spcPct val="83000"/>
              </a:lnSpc>
              <a:buNone/>
            </a:pPr>
            <a:r>
              <a:rPr lang="en-US" sz="4400" spc="-44" kern="100" dirty="0">
                <a:solidFill>
                  <a:srgbClr val="1A1F26"/>
                </a:solidFill>
                <a:latin typeface="B612" pitchFamily="34" charset="0"/>
                <a:ea typeface="B612" pitchFamily="34" charset="-122"/>
                <a:cs typeface="B612" pitchFamily="34" charset="-120"/>
              </a:rPr>
              <a:t>THANK YOU · Questions?</a:t>
            </a:r>
            <a:endParaRPr lang="en-US" sz="4400" dirty="0"/>
          </a:p>
        </p:txBody>
      </p:sp>
      <p:pic>
        <p:nvPicPr>
          <p:cNvPr id="13" name="Image 0" descr="preencoded.png">    </p:cNvPr>
          <p:cNvPicPr>
            <a:picLocks noChangeAspect="1"/>
          </p:cNvPicPr>
          <p:nvPr/>
        </p:nvPicPr>
        <p:blipFill>
          <a:blip r:embed="rId1"/>
          <a:stretch>
            <a:fillRect/>
          </a:stretch>
        </p:blipFill>
        <p:spPr>
          <a:xfrm>
            <a:off x="609585" y="6350000"/>
            <a:ext cx="10972526" cy="63500"/>
          </a:xfrm>
          <a:prstGeom prst="rect">
            <a:avLst/>
          </a:prstGeom>
        </p:spPr>
      </p:pic>
      <p:sp>
        <p:nvSpPr>
          <p:cNvPr id="14" name="Text 11"/>
          <p:cNvSpPr/>
          <p:nvPr/>
        </p:nvSpPr>
        <p:spPr>
          <a:xfrm>
            <a:off x="172438" y="6481465"/>
            <a:ext cx="2836792"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AI RESUME SCREENING SYSTEM</a:t>
            </a:r>
            <a:endParaRPr lang="en-US" sz="950" dirty="0"/>
          </a:p>
        </p:txBody>
      </p:sp>
      <p:sp>
        <p:nvSpPr>
          <p:cNvPr id="15" name="Text 12"/>
          <p:cNvSpPr/>
          <p:nvPr/>
        </p:nvSpPr>
        <p:spPr>
          <a:xfrm>
            <a:off x="11419495" y="6481465"/>
            <a:ext cx="772200" cy="168870"/>
          </a:xfrm>
          <a:prstGeom prst="rect">
            <a:avLst/>
          </a:prstGeom>
          <a:noFill/>
          <a:ln/>
        </p:spPr>
        <p:txBody>
          <a:bodyPr wrap="none" lIns="0" tIns="0" rIns="0" bIns="0" rtlCol="0" anchor="ctr"/>
          <a:lstStyle/>
          <a:p>
            <a:pPr algn="l" indent="0" marL="0">
              <a:lnSpc>
                <a:spcPct val="117000"/>
              </a:lnSpc>
              <a:buNone/>
            </a:pPr>
            <a:r>
              <a:rPr lang="en-US" sz="950" spc="57" kern="100" dirty="0">
                <a:solidFill>
                  <a:srgbClr val="2A313A"/>
                </a:solidFill>
                <a:latin typeface="B612 Mono" pitchFamily="34" charset="0"/>
                <a:ea typeface="B612 Mono" pitchFamily="34" charset="-122"/>
                <a:cs typeface="B612 Mono" pitchFamily="34" charset="-120"/>
              </a:rPr>
              <a:t>10 / 10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2026-10-08T07:46:51Z</dcterms:created>
  <dcterms:modified xsi:type="dcterms:W3CDTF">2026-10-08T07:46:51Z</dcterms:modified>
</cp:coreProperties>
</file>