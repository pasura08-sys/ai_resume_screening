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Bricolage Grotesque SemiBold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3.png"/><Relationship Id="rId6" Type="http://schemas.openxmlformats.org/officeDocument/2006/relationships/image" Target="../media/image-2-4.svg"/><Relationship Id="rId7" Type="http://schemas.openxmlformats.org/officeDocument/2006/relationships/image" Target="../media/image-2-3.png"/><Relationship Id="rId8" Type="http://schemas.openxmlformats.org/officeDocument/2006/relationships/image" Target="../media/image-2-4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8545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AI Resume Screening System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936776"/>
            <a:ext cx="3496877" cy="1177330"/>
          </a:xfrm>
          <a:prstGeom prst="roundRect">
            <a:avLst>
              <a:gd name="adj" fmla="val 6743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3132138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2510030413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540820"/>
            <a:ext cx="3106164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Aparna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4347359" y="2936776"/>
            <a:ext cx="3496877" cy="1177330"/>
          </a:xfrm>
          <a:prstGeom prst="roundRect">
            <a:avLst>
              <a:gd name="adj" fmla="val 6743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3132138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2510030271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540820"/>
            <a:ext cx="3106164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Pavithra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033244" y="2936776"/>
            <a:ext cx="3496877" cy="1177330"/>
          </a:xfrm>
          <a:prstGeom prst="roundRect">
            <a:avLst>
              <a:gd name="adj" fmla="val 6743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3132138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2510030174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540820"/>
            <a:ext cx="3106164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Anusha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661475" y="4303117"/>
            <a:ext cx="3496877" cy="1177330"/>
          </a:xfrm>
          <a:prstGeom prst="roundRect">
            <a:avLst>
              <a:gd name="adj" fmla="val 6743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832" y="4498479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2510030305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6832" y="4907161"/>
            <a:ext cx="3106164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Snikitha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4347359" y="4303117"/>
            <a:ext cx="3496877" cy="1177330"/>
          </a:xfrm>
          <a:prstGeom prst="roundRect">
            <a:avLst>
              <a:gd name="adj" fmla="val 6743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2716" y="4498479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2510030251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4542716" y="4907161"/>
            <a:ext cx="3106164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Ananya</a:t>
            </a:r>
            <a:endParaRPr lang="en-US" sz="1850" dirty="0"/>
          </a:p>
        </p:txBody>
      </p:sp>
      <p:sp>
        <p:nvSpPr>
          <p:cNvPr id="18" name="Shape 16"/>
          <p:cNvSpPr/>
          <p:nvPr/>
        </p:nvSpPr>
        <p:spPr>
          <a:xfrm>
            <a:off x="8033244" y="4303117"/>
            <a:ext cx="3496877" cy="1177330"/>
          </a:xfrm>
          <a:prstGeom prst="roundRect">
            <a:avLst>
              <a:gd name="adj" fmla="val 6743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8600" y="4498479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2510030252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8228600" y="4907161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Lathika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886619"/>
            <a:ext cx="151206" cy="1512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8283" y="879876"/>
            <a:ext cx="74610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FFE1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61475" y="11892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Problem Statement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055515"/>
            <a:ext cx="10868745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Recruiters receive </a:t>
            </a:r>
            <a:pPr algn="l" indent="0" marL="0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hundreds or thousands of resumes</a:t>
            </a:r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 job opening — creating an unmanageable bottleneck in the hiring process.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661475" y="3023989"/>
            <a:ext cx="10868745" cy="1209377"/>
          </a:xfrm>
          <a:prstGeom prst="roundRect">
            <a:avLst>
              <a:gd name="adj" fmla="val 6564"/>
            </a:avLst>
          </a:prstGeom>
          <a:solidFill>
            <a:srgbClr val="F8ECD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3326507"/>
            <a:ext cx="295268" cy="236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34756" y="3260229"/>
            <a:ext cx="10006457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solution: an AI system that automatically compares resumes with job descriptions and ranks candidates using Data Structures and Algorithms.</a:t>
            </a:r>
            <a:endParaRPr lang="en-US" sz="1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445992"/>
            <a:ext cx="3496877" cy="15933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7479" y="466040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Time-Consuming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77479" y="5069086"/>
            <a:ext cx="2966467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Hours spent reviewing each resume manually</a:t>
            </a:r>
            <a:endParaRPr lang="en-US" sz="1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7359" y="4445992"/>
            <a:ext cx="3496877" cy="159335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3363" y="466040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Human Error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4663363" y="5069086"/>
            <a:ext cx="2966467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Bias and inconsistency creep into decisions</a:t>
            </a:r>
            <a:endParaRPr lang="en-US" sz="18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33244" y="4445992"/>
            <a:ext cx="3496877" cy="159335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349247" y="466040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Missed Talent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8349247" y="5069086"/>
            <a:ext cx="2966467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Qualified candidates are routinely overlooked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3769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Project Objectives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47130"/>
            <a:ext cx="359064" cy="3590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3754" y="1708845"/>
            <a:ext cx="475543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Automate Resume Screening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233754" y="2091630"/>
            <a:ext cx="4755436" cy="1050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 manual effort by processing resumes automatically against job descriptions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2406" y="1647130"/>
            <a:ext cx="359064" cy="3590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74685" y="1708845"/>
            <a:ext cx="475553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Match Skills to Job Descriptions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774685" y="2091630"/>
            <a:ext cx="4755535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and align required technical and soft skills with candidate profiles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482876"/>
            <a:ext cx="359064" cy="3590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3754" y="3544590"/>
            <a:ext cx="475543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Calculate Similarity Scores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1233754" y="3927376"/>
            <a:ext cx="4755436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Quantify relevance between resumes and job requirements using algorithms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2406" y="3482876"/>
            <a:ext cx="359064" cy="3590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74685" y="3544590"/>
            <a:ext cx="475553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Rank Resumes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774685" y="3927376"/>
            <a:ext cx="4755535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candidates from most to least suitable based on computed scores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968577"/>
            <a:ext cx="359064" cy="35907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3754" y="5030291"/>
            <a:ext cx="475543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Detect Duplicate Resumes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1233754" y="5413077"/>
            <a:ext cx="4755436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hashing to flag repeated submissions and maintain clean data</a:t>
            </a:r>
            <a:endParaRPr lang="en-US" sz="17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02406" y="4968577"/>
            <a:ext cx="359064" cy="35907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774685" y="5030291"/>
            <a:ext cx="475553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Reduce Recruiter Workload</a:t>
            </a:r>
            <a:endParaRPr lang="en-US" sz="1750" dirty="0"/>
          </a:p>
        </p:txBody>
      </p:sp>
      <p:sp>
        <p:nvSpPr>
          <p:cNvPr id="20" name="Text 12"/>
          <p:cNvSpPr/>
          <p:nvPr/>
        </p:nvSpPr>
        <p:spPr>
          <a:xfrm>
            <a:off x="6774685" y="5413077"/>
            <a:ext cx="4755535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hiring accuracy and save valuable time across the recruitment cycle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2263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Technology Stack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659533"/>
            <a:ext cx="3531901" cy="2326481"/>
          </a:xfrm>
          <a:prstGeom prst="roundRect">
            <a:avLst>
              <a:gd name="adj" fmla="val 290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8EC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156" y="1839218"/>
            <a:ext cx="1922712" cy="243979"/>
          </a:xfrm>
          <a:prstGeom prst="roundRect">
            <a:avLst>
              <a:gd name="adj" fmla="val 22126"/>
            </a:avLst>
          </a:prstGeom>
          <a:solidFill>
            <a:srgbClr val="F8ECD3"/>
          </a:solidFill>
          <a:ln/>
        </p:spPr>
      </p:sp>
      <p:sp>
        <p:nvSpPr>
          <p:cNvPr id="5" name="Text 3"/>
          <p:cNvSpPr/>
          <p:nvPr/>
        </p:nvSpPr>
        <p:spPr>
          <a:xfrm>
            <a:off x="937495" y="1887339"/>
            <a:ext cx="1730034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PROGRAMMING LANGUAGE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156" y="2137767"/>
            <a:ext cx="317253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Java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156" y="2470646"/>
            <a:ext cx="3172539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language powering the entire system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29897" y="1659533"/>
            <a:ext cx="3531901" cy="2326481"/>
          </a:xfrm>
          <a:prstGeom prst="roundRect">
            <a:avLst>
              <a:gd name="adj" fmla="val 290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8EC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09578" y="1839218"/>
            <a:ext cx="1617721" cy="243979"/>
          </a:xfrm>
          <a:prstGeom prst="roundRect">
            <a:avLst>
              <a:gd name="adj" fmla="val 22126"/>
            </a:avLst>
          </a:prstGeom>
          <a:solidFill>
            <a:srgbClr val="F8ECD3"/>
          </a:solidFill>
          <a:ln/>
        </p:spPr>
      </p:sp>
      <p:sp>
        <p:nvSpPr>
          <p:cNvPr id="10" name="Text 8"/>
          <p:cNvSpPr/>
          <p:nvPr/>
        </p:nvSpPr>
        <p:spPr>
          <a:xfrm>
            <a:off x="4605917" y="1887339"/>
            <a:ext cx="1425043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TOOLS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09578" y="2236788"/>
            <a:ext cx="3172539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IntelliJ IDEA / Eclipse / VS Code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&amp; GitHub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98319" y="1659533"/>
            <a:ext cx="3531901" cy="2326481"/>
          </a:xfrm>
          <a:prstGeom prst="roundRect">
            <a:avLst>
              <a:gd name="adj" fmla="val 290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8EC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78000" y="1839218"/>
            <a:ext cx="1413435" cy="243979"/>
          </a:xfrm>
          <a:prstGeom prst="roundRect">
            <a:avLst>
              <a:gd name="adj" fmla="val 22126"/>
            </a:avLst>
          </a:prstGeom>
          <a:solidFill>
            <a:srgbClr val="F8ECD3"/>
          </a:solidFill>
          <a:ln/>
        </p:spPr>
      </p:sp>
      <p:sp>
        <p:nvSpPr>
          <p:cNvPr id="14" name="Text 12"/>
          <p:cNvSpPr/>
          <p:nvPr/>
        </p:nvSpPr>
        <p:spPr>
          <a:xfrm>
            <a:off x="8274339" y="1887339"/>
            <a:ext cx="1220757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STRUCTURES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78000" y="2236788"/>
            <a:ext cx="3172539" cy="1569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ArrayList / List: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Ordered data storage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HashSet / Set: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Unique item tracking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Queue / LinkedList: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Task scheduling or processing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HashMap / Map: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Fast lookup and status association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1475" y="4122539"/>
            <a:ext cx="5366112" cy="1851025"/>
          </a:xfrm>
          <a:prstGeom prst="roundRect">
            <a:avLst>
              <a:gd name="adj" fmla="val 3646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8EC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156" y="4302224"/>
            <a:ext cx="1780932" cy="243979"/>
          </a:xfrm>
          <a:prstGeom prst="roundRect">
            <a:avLst>
              <a:gd name="adj" fmla="val 22126"/>
            </a:avLst>
          </a:prstGeom>
          <a:solidFill>
            <a:srgbClr val="F8ECD3"/>
          </a:solidFill>
          <a:ln/>
        </p:spPr>
      </p:sp>
      <p:sp>
        <p:nvSpPr>
          <p:cNvPr id="18" name="Text 16"/>
          <p:cNvSpPr/>
          <p:nvPr/>
        </p:nvSpPr>
        <p:spPr>
          <a:xfrm>
            <a:off x="937495" y="4350345"/>
            <a:ext cx="1588254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ALGORITHMS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156" y="4699794"/>
            <a:ext cx="5006751" cy="1094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 Matching (KMP, Rabin-Karp)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Distance (Levenshtein Algorithm)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Sorting and searching techniques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Hashing (Duplicate Resume Detection)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64108" y="4122539"/>
            <a:ext cx="5366112" cy="1851025"/>
          </a:xfrm>
          <a:prstGeom prst="roundRect">
            <a:avLst>
              <a:gd name="adj" fmla="val 3646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8EC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43789" y="4302224"/>
            <a:ext cx="1162616" cy="243979"/>
          </a:xfrm>
          <a:prstGeom prst="roundRect">
            <a:avLst>
              <a:gd name="adj" fmla="val 22126"/>
            </a:avLst>
          </a:prstGeom>
          <a:solidFill>
            <a:srgbClr val="F8ECD3"/>
          </a:solidFill>
          <a:ln/>
        </p:spPr>
      </p:sp>
      <p:sp>
        <p:nvSpPr>
          <p:cNvPr id="22" name="Text 20"/>
          <p:cNvSpPr/>
          <p:nvPr/>
        </p:nvSpPr>
        <p:spPr>
          <a:xfrm>
            <a:off x="6440128" y="4350345"/>
            <a:ext cx="969938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HANDLING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43789" y="4699794"/>
            <a:ext cx="5006751" cy="760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libraries for image, text preprocessing (OpenCV)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Scikit-learn(for matching job description),SpaCy(for extracting text) in Python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7673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Expected Outcomes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48488" y="1850727"/>
            <a:ext cx="3306581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9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661425" y="2660948"/>
            <a:ext cx="348070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Workflow Modules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61475" y="3043734"/>
            <a:ext cx="3480705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automated pipeline from upload to ranked report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442408" y="1850727"/>
            <a:ext cx="3306680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10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4355396" y="2660948"/>
            <a:ext cx="34808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Week Timeline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355396" y="3043734"/>
            <a:ext cx="3480804" cy="1050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development schedule from research to final demo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136428" y="1850727"/>
            <a:ext cx="3306680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100%</a:t>
            </a:r>
            <a:endParaRPr lang="en-US" sz="4650" dirty="0"/>
          </a:p>
        </p:txBody>
      </p:sp>
      <p:sp>
        <p:nvSpPr>
          <p:cNvPr id="10" name="Text 8"/>
          <p:cNvSpPr/>
          <p:nvPr/>
        </p:nvSpPr>
        <p:spPr>
          <a:xfrm>
            <a:off x="8049366" y="2660948"/>
            <a:ext cx="34808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Automated Screening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049416" y="3043734"/>
            <a:ext cx="3480804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Resumes matched and ranked without manual intervention</a:t>
            </a:r>
            <a:endParaRPr lang="en-US" sz="17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8843" y="4291211"/>
            <a:ext cx="269273" cy="2692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44966" y="4285754"/>
            <a:ext cx="289721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Auto-Screen &amp; Match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244966" y="4668540"/>
            <a:ext cx="2897214" cy="1050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Instantly compare candidate skills against job requirements at scale</a:t>
            </a:r>
            <a:endParaRPr lang="en-US" sz="17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2764" y="4291211"/>
            <a:ext cx="269273" cy="2692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38887" y="4285754"/>
            <a:ext cx="289731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Score &amp; Rank Candidates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4938887" y="4668540"/>
            <a:ext cx="2897313" cy="1050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 ranked shortlists with similarity scores for every job opening</a:t>
            </a:r>
            <a:endParaRPr lang="en-US" sz="17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16784" y="4291211"/>
            <a:ext cx="269273" cy="2692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32907" y="4285754"/>
            <a:ext cx="2897313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Eliminate Duplicates &amp; Save Time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8632907" y="4949031"/>
            <a:ext cx="2897313" cy="1050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data, faster decisions, and dramatically improved hiring efficiency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4659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Project Modules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621929"/>
            <a:ext cx="1086874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processes resumes through a </a:t>
            </a:r>
            <a:pPr algn="l" indent="0" marL="0">
              <a:lnSpc>
                <a:spcPct val="123000"/>
              </a:lnSpc>
              <a:buNone/>
            </a:pPr>
            <a:r>
              <a:rPr lang="en-US" sz="15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9-step intelligent pipeline</a:t>
            </a:r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from raw file upload to a fully ranked, duplicate-free candidate report.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61475" y="2369840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01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61475" y="2623741"/>
            <a:ext cx="3531901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742109"/>
            <a:ext cx="353190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Resume Upload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61475" y="3074988"/>
            <a:ext cx="353190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or DOCX format accepted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329897" y="2369840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02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9897" y="2623741"/>
            <a:ext cx="3531901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10" name="Text 8"/>
          <p:cNvSpPr/>
          <p:nvPr/>
        </p:nvSpPr>
        <p:spPr>
          <a:xfrm>
            <a:off x="4329897" y="2742109"/>
            <a:ext cx="353190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Text Extraction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329897" y="3074988"/>
            <a:ext cx="353190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raw text from uploaded files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98319" y="2369840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03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98319" y="2623741"/>
            <a:ext cx="3531901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14" name="Text 12"/>
          <p:cNvSpPr/>
          <p:nvPr/>
        </p:nvSpPr>
        <p:spPr>
          <a:xfrm>
            <a:off x="7998319" y="2742109"/>
            <a:ext cx="353190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Preprocessing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98319" y="3074988"/>
            <a:ext cx="353190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symbols, standardize format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61475" y="3629124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04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1475" y="3866952"/>
            <a:ext cx="3531901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001393"/>
            <a:ext cx="353190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Skill Extraction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61475" y="4334272"/>
            <a:ext cx="353190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technical and soft skills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329897" y="3629124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05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29897" y="3866952"/>
            <a:ext cx="3531901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22" name="Text 20"/>
          <p:cNvSpPr/>
          <p:nvPr/>
        </p:nvSpPr>
        <p:spPr>
          <a:xfrm>
            <a:off x="4329897" y="4001393"/>
            <a:ext cx="353190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Job Description Analysis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329897" y="4334272"/>
            <a:ext cx="353190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required skills from JD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998319" y="3629124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06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998319" y="3866952"/>
            <a:ext cx="3531901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26" name="Text 24"/>
          <p:cNvSpPr/>
          <p:nvPr/>
        </p:nvSpPr>
        <p:spPr>
          <a:xfrm>
            <a:off x="7998319" y="4001393"/>
            <a:ext cx="353190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Similarity Calculation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998319" y="4334272"/>
            <a:ext cx="353190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resumes against the JD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61475" y="4888409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07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61475" y="5110262"/>
            <a:ext cx="3531901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30" name="Text 28"/>
          <p:cNvSpPr/>
          <p:nvPr/>
        </p:nvSpPr>
        <p:spPr>
          <a:xfrm>
            <a:off x="661475" y="5260677"/>
            <a:ext cx="353190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Resume Ranking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61475" y="5593556"/>
            <a:ext cx="353190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by similarity scores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4329897" y="4888409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08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329897" y="5110262"/>
            <a:ext cx="3531901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34" name="Text 32"/>
          <p:cNvSpPr/>
          <p:nvPr/>
        </p:nvSpPr>
        <p:spPr>
          <a:xfrm>
            <a:off x="4329897" y="5260677"/>
            <a:ext cx="353190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Duplicate Detection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4329897" y="5593556"/>
            <a:ext cx="353190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repeated resumes via hashing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7998319" y="4888409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09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998319" y="5110262"/>
            <a:ext cx="3531901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38" name="Text 36"/>
          <p:cNvSpPr/>
          <p:nvPr/>
        </p:nvSpPr>
        <p:spPr>
          <a:xfrm>
            <a:off x="7998319" y="5260677"/>
            <a:ext cx="353190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Final Report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7998319" y="5593556"/>
            <a:ext cx="353190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ranked resumes with scores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392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Implementation Timeline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086323" y="1266527"/>
            <a:ext cx="19050" cy="5024438"/>
          </a:xfrm>
          <a:prstGeom prst="roundRect">
            <a:avLst>
              <a:gd name="adj" fmla="val 49999"/>
            </a:avLst>
          </a:prstGeom>
          <a:solidFill>
            <a:srgbClr val="F8ECD3"/>
          </a:solidFill>
          <a:ln/>
        </p:spPr>
      </p:sp>
      <p:sp>
        <p:nvSpPr>
          <p:cNvPr id="4" name="Shape 2"/>
          <p:cNvSpPr/>
          <p:nvPr/>
        </p:nvSpPr>
        <p:spPr>
          <a:xfrm>
            <a:off x="5500996" y="1424384"/>
            <a:ext cx="446473" cy="19050"/>
          </a:xfrm>
          <a:prstGeom prst="roundRect">
            <a:avLst>
              <a:gd name="adj" fmla="val 49999"/>
            </a:avLst>
          </a:prstGeom>
          <a:solidFill>
            <a:srgbClr val="F8ECD3"/>
          </a:solidFill>
          <a:ln/>
        </p:spPr>
      </p:sp>
      <p:sp>
        <p:nvSpPr>
          <p:cNvPr id="5" name="Shape 3"/>
          <p:cNvSpPr/>
          <p:nvPr/>
        </p:nvSpPr>
        <p:spPr>
          <a:xfrm>
            <a:off x="5928420" y="1266527"/>
            <a:ext cx="334855" cy="334863"/>
          </a:xfrm>
          <a:prstGeom prst="roundRect">
            <a:avLst>
              <a:gd name="adj" fmla="val 18670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84180" y="1294358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61475" y="1317625"/>
            <a:ext cx="469015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Weeks 1–2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1620341"/>
            <a:ext cx="4690151" cy="79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9000"/>
              </a:lnSpc>
              <a:buNone/>
            </a:pP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&amp; Data Collection</a:t>
            </a:r>
            <a:endParaRPr lang="en-US" sz="1450" dirty="0"/>
          </a:p>
          <a:p>
            <a:pPr algn="r" indent="0" marL="0">
              <a:lnSpc>
                <a:spcPct val="119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requirements · Collect sample resumes and job descriptions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44225" y="2254151"/>
            <a:ext cx="446473" cy="19050"/>
          </a:xfrm>
          <a:prstGeom prst="roundRect">
            <a:avLst>
              <a:gd name="adj" fmla="val 49999"/>
            </a:avLst>
          </a:prstGeom>
          <a:solidFill>
            <a:srgbClr val="F8ECD3"/>
          </a:solidFill>
          <a:ln/>
        </p:spPr>
      </p:sp>
      <p:sp>
        <p:nvSpPr>
          <p:cNvPr id="10" name="Shape 8"/>
          <p:cNvSpPr/>
          <p:nvPr/>
        </p:nvSpPr>
        <p:spPr>
          <a:xfrm>
            <a:off x="5928420" y="2096294"/>
            <a:ext cx="334855" cy="334863"/>
          </a:xfrm>
          <a:prstGeom prst="roundRect">
            <a:avLst>
              <a:gd name="adj" fmla="val 18670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4180" y="2124125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840069" y="2147391"/>
            <a:ext cx="469015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Weeks 3–4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40069" y="2450108"/>
            <a:ext cx="4690151" cy="79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Extraction &amp; Algorithms</a:t>
            </a:r>
            <a:endParaRPr lang="en-US" sz="14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 text extraction · Implement String Matching &amp; Edit Distance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500996" y="2992239"/>
            <a:ext cx="446473" cy="19050"/>
          </a:xfrm>
          <a:prstGeom prst="roundRect">
            <a:avLst>
              <a:gd name="adj" fmla="val 49999"/>
            </a:avLst>
          </a:prstGeom>
          <a:solidFill>
            <a:srgbClr val="F8ECD3"/>
          </a:solidFill>
          <a:ln/>
        </p:spPr>
      </p:sp>
      <p:sp>
        <p:nvSpPr>
          <p:cNvPr id="15" name="Shape 13"/>
          <p:cNvSpPr/>
          <p:nvPr/>
        </p:nvSpPr>
        <p:spPr>
          <a:xfrm>
            <a:off x="5928420" y="2834382"/>
            <a:ext cx="334855" cy="334863"/>
          </a:xfrm>
          <a:prstGeom prst="roundRect">
            <a:avLst>
              <a:gd name="adj" fmla="val 18670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4180" y="2862213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3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61475" y="2885480"/>
            <a:ext cx="469015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Weeks 5–6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1475" y="3188196"/>
            <a:ext cx="4690151" cy="79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9000"/>
              </a:lnSpc>
              <a:buNone/>
            </a:pP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Scoring &amp; Ranking</a:t>
            </a:r>
            <a:endParaRPr lang="en-US" sz="1450" dirty="0"/>
          </a:p>
          <a:p>
            <a:pPr algn="r" indent="0" marL="0">
              <a:lnSpc>
                <a:spcPct val="119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Similarity Score · Build Resume Ranking module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44225" y="3730427"/>
            <a:ext cx="446473" cy="19050"/>
          </a:xfrm>
          <a:prstGeom prst="roundRect">
            <a:avLst>
              <a:gd name="adj" fmla="val 49999"/>
            </a:avLst>
          </a:prstGeom>
          <a:solidFill>
            <a:srgbClr val="F8ECD3"/>
          </a:solidFill>
          <a:ln/>
        </p:spPr>
      </p:sp>
      <p:sp>
        <p:nvSpPr>
          <p:cNvPr id="20" name="Shape 18"/>
          <p:cNvSpPr/>
          <p:nvPr/>
        </p:nvSpPr>
        <p:spPr>
          <a:xfrm>
            <a:off x="5928420" y="3572570"/>
            <a:ext cx="334855" cy="334863"/>
          </a:xfrm>
          <a:prstGeom prst="roundRect">
            <a:avLst>
              <a:gd name="adj" fmla="val 18670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4180" y="3600400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4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6840069" y="3623667"/>
            <a:ext cx="469015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Week 7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840069" y="3926384"/>
            <a:ext cx="4690151" cy="79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Duplicate Detection</a:t>
            </a:r>
            <a:endParaRPr lang="en-US" sz="14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hashing-based duplicate resume identification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500996" y="4468614"/>
            <a:ext cx="446473" cy="19050"/>
          </a:xfrm>
          <a:prstGeom prst="roundRect">
            <a:avLst>
              <a:gd name="adj" fmla="val 49999"/>
            </a:avLst>
          </a:prstGeom>
          <a:solidFill>
            <a:srgbClr val="F8ECD3"/>
          </a:solidFill>
          <a:ln/>
        </p:spPr>
      </p:sp>
      <p:sp>
        <p:nvSpPr>
          <p:cNvPr id="25" name="Shape 23"/>
          <p:cNvSpPr/>
          <p:nvPr/>
        </p:nvSpPr>
        <p:spPr>
          <a:xfrm>
            <a:off x="5928420" y="4310757"/>
            <a:ext cx="334855" cy="334863"/>
          </a:xfrm>
          <a:prstGeom prst="roundRect">
            <a:avLst>
              <a:gd name="adj" fmla="val 18670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4180" y="4338588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5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661475" y="4361855"/>
            <a:ext cx="469015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Weeks 8–9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61475" y="4664571"/>
            <a:ext cx="4690151" cy="532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9000"/>
              </a:lnSpc>
              <a:buNone/>
            </a:pP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Testing &amp; Documentation</a:t>
            </a:r>
            <a:endParaRPr lang="en-US" sz="1450" dirty="0"/>
          </a:p>
          <a:p>
            <a:pPr algn="r" indent="0" marL="0">
              <a:lnSpc>
                <a:spcPct val="119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Bug fixing · Complete project documentation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244225" y="5206802"/>
            <a:ext cx="446473" cy="19050"/>
          </a:xfrm>
          <a:prstGeom prst="roundRect">
            <a:avLst>
              <a:gd name="adj" fmla="val 49999"/>
            </a:avLst>
          </a:prstGeom>
          <a:solidFill>
            <a:srgbClr val="F8ECD3"/>
          </a:solidFill>
          <a:ln/>
        </p:spPr>
      </p:sp>
      <p:sp>
        <p:nvSpPr>
          <p:cNvPr id="30" name="Shape 28"/>
          <p:cNvSpPr/>
          <p:nvPr/>
        </p:nvSpPr>
        <p:spPr>
          <a:xfrm>
            <a:off x="5928420" y="5048945"/>
            <a:ext cx="334855" cy="334863"/>
          </a:xfrm>
          <a:prstGeom prst="roundRect">
            <a:avLst>
              <a:gd name="adj" fmla="val 18670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4180" y="5076775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6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6840069" y="5100042"/>
            <a:ext cx="469015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Week 10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840069" y="5402759"/>
            <a:ext cx="4690151" cy="532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 Presentation</a:t>
            </a:r>
            <a:endParaRPr lang="en-US" sz="14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system demonstration and academic submission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569853"/>
            <a:ext cx="10868745" cy="177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Thank You</a:t>
            </a:r>
            <a:endParaRPr lang="en-US" sz="1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2026-10-08T00:14:58Z</dcterms:created>
  <dcterms:modified xsi:type="dcterms:W3CDTF">2026-10-08T00:14:58Z</dcterms:modified>
</cp:coreProperties>
</file>