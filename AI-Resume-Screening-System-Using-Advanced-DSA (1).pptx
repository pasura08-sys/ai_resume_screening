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embeddedFontLst>
    <p:embeddedFont>
      <p:font typeface="Inter Bold"/>
      <p:regular r:id="rId201314"/>
    </p:embeddedFont>
    <p:embeddedFont>
      <p:font typeface="Inter"/>
      <p:regular r:id="rId201315"/>
    </p:embeddedFont>
    <p:embeddedFont>
      <p:font typeface="Petrona Bold"/>
      <p:regular r:id="rId201316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5857"/>
            <a:ext cx="10868745" cy="13178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AI Resume Screening System Using Advanced DSA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661475" y="2051943"/>
            <a:ext cx="10868745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Review 3 – Advanced DSA Implementation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1475" y="2835077"/>
            <a:ext cx="10868745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    Team Members: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3621385"/>
            <a:ext cx="10868745" cy="20816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Snikitha-2510030305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Pavithra-2510030271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Anusha-2510030174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Lathika-2510030252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Aparna-2510030413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Ananya-2510030251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356682" y="5894983"/>
            <a:ext cx="11478330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   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68884"/>
            <a:ext cx="10868745" cy="5814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 STATEMENT &amp; OBJECTIVES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703388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Problem: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61475" y="2367855"/>
            <a:ext cx="10868745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Slow and difficult to scale with large candidate pools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matching may miss spelling variations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resumes cause redundant processing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direct candidate-job assignment mechanism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369867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Objectives:</a:t>
            </a:r>
            <a:endParaRPr lang="en-US" sz="2900" dirty="0"/>
          </a:p>
        </p:txBody>
      </p:sp>
      <p:sp>
        <p:nvSpPr>
          <p:cNvPr id="6" name="Text 4"/>
          <p:cNvSpPr/>
          <p:nvPr/>
        </p:nvSpPr>
        <p:spPr>
          <a:xfrm>
            <a:off x="661475" y="4363145"/>
            <a:ext cx="10868745" cy="1425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&amp; fuzzy skill matching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detection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 ranking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Candidate-job assignment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Transparent DSA pipeline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98004"/>
            <a:ext cx="10868745" cy="118189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NOVELTY &amp; ADAPTABILITY OF DEVELOPED METHODOLOGY </a:t>
            </a:r>
            <a:pPr algn="l" indent="0" marL="0">
              <a:lnSpc>
                <a:spcPct val="104000"/>
              </a:lnSpc>
              <a:buNone/>
            </a:pPr>
            <a:r>
              <a:rPr lang="en-US" sz="365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⭐</a:t>
            </a:r>
            <a:endParaRPr lang="en-US" sz="3650" dirty="0"/>
          </a:p>
        </p:txBody>
      </p:sp>
      <p:sp>
        <p:nvSpPr>
          <p:cNvPr id="3" name="Text 1"/>
          <p:cNvSpPr/>
          <p:nvPr/>
        </p:nvSpPr>
        <p:spPr>
          <a:xfrm>
            <a:off x="661475" y="1932980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NOVELTY: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61475" y="2423021"/>
            <a:ext cx="10868745" cy="11314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Integrates 5 DSA techniques into one resume-screening pipeline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Combines exact matching, fuzzy matching and duplicate detection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Adds candidate ranking and candidate-job assignment in same workflow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Produces transparent algorithm-based results</a:t>
            </a:r>
            <a:endParaRPr lang="en-US" sz="1350" dirty="0"/>
          </a:p>
        </p:txBody>
      </p:sp>
      <p:sp>
        <p:nvSpPr>
          <p:cNvPr id="5" name="Text 3"/>
          <p:cNvSpPr/>
          <p:nvPr/>
        </p:nvSpPr>
        <p:spPr>
          <a:xfrm>
            <a:off x="661475" y="3753842"/>
            <a:ext cx="10868745" cy="2907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8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ADAPTABILITY: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61475" y="4243884"/>
            <a:ext cx="10868745" cy="1425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Supports different job descriptions and skill requirements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New resumes processed without changing core workflow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Handles exact skills and spelling variations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Candidate-job assignment adapts to different available roles</a:t>
            </a:r>
            <a:endParaRPr lang="en-US" sz="1350" dirty="0"/>
          </a:p>
          <a:p>
            <a:pPr algn="l" marL="274320" indent="-274320">
              <a:lnSpc>
                <a:spcPct val="117000"/>
              </a:lnSpc>
              <a:buSzPct val="100000"/>
              <a:buChar char="•"/>
            </a:pPr>
            <a:r>
              <a:rPr lang="en-US" sz="13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DSA components extend for larger datasets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56630"/>
            <a:ext cx="10868745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 &amp; PIPELINE</a:t>
            </a:r>
            <a:endParaRPr lang="en-US" sz="175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1104900"/>
            <a:ext cx="707809" cy="8494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54114" y="1246386"/>
            <a:ext cx="10076107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Resume Input</a:t>
            </a:r>
            <a:endParaRPr lang="en-US" sz="14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475" y="1954312"/>
            <a:ext cx="707809" cy="849412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454114" y="2095798"/>
            <a:ext cx="10076107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Preprocessing</a:t>
            </a:r>
            <a:endParaRPr lang="en-US" sz="14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803723"/>
            <a:ext cx="707809" cy="849412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454114" y="2945209"/>
            <a:ext cx="10076107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Duplicate Detection</a:t>
            </a:r>
            <a:endParaRPr lang="en-US" sz="14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475" y="3653135"/>
            <a:ext cx="707809" cy="849412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454114" y="3794621"/>
            <a:ext cx="10076107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Exact/Fuzzy Matching</a:t>
            </a:r>
            <a:endParaRPr lang="en-US" sz="145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1475" y="4502547"/>
            <a:ext cx="707809" cy="849412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454114" y="4644033"/>
            <a:ext cx="10076107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Ranking</a:t>
            </a:r>
            <a:endParaRPr lang="en-US" sz="1450" dirty="0"/>
          </a:p>
        </p:txBody>
      </p:sp>
      <p:pic>
        <p:nvPicPr>
          <p:cNvPr id="1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475" y="5351959"/>
            <a:ext cx="707809" cy="849412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454114" y="5493445"/>
            <a:ext cx="10076107" cy="2322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Job Assignment, Results</a:t>
            </a:r>
            <a:endParaRPr lang="en-US" sz="14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043384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METHODOLOGY EVALUATION </a:t>
            </a:r>
            <a:endParaRPr lang="en-US" sz="39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1966020"/>
          <a:ext cx="10868745" cy="914400"/>
        </p:xfrm>
        <a:graphic>
          <a:graphicData uri="http://schemas.openxmlformats.org/drawingml/2006/table">
            <a:tbl>
              <a:tblPr/>
              <a:tblGrid>
                <a:gridCol w="5434373"/>
                <a:gridCol w="5434373"/>
              </a:tblGrid>
              <a:tr h="537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DSA Method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b="1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Evaluation / Actual Result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05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KMP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Exact skill matching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05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Rabin-Karp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Duplicate resume detected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05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Edit Distance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pythn → python close match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405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Sorting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Candidates ranked by score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  <a:tr h="537355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Edmonds-Karp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3 maximum feasible assignments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189018" marR="189018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Shape 1"/>
          <p:cNvSpPr/>
          <p:nvPr/>
        </p:nvSpPr>
        <p:spPr>
          <a:xfrm>
            <a:off x="661475" y="249156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661475" y="3032091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61475" y="357262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661475" y="411315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  <p:sp>
        <p:nvSpPr>
          <p:cNvPr id="8" name="Shape 5"/>
          <p:cNvSpPr/>
          <p:nvPr/>
        </p:nvSpPr>
        <p:spPr>
          <a:xfrm>
            <a:off x="661475" y="4653682"/>
            <a:ext cx="10868745" cy="11814"/>
          </a:xfrm>
          <a:prstGeom prst="rect">
            <a:avLst/>
          </a:prstGeom>
          <a:solidFill>
            <a:srgbClr val="000000">
              <a:alpha val="8000"/>
            </a:srgbClr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21531"/>
            <a:ext cx="10868745" cy="7619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DISSEMINATION &amp; ACCESSIBILITY </a:t>
            </a:r>
            <a:pPr algn="l" indent="0" marL="0">
              <a:lnSpc>
                <a:spcPct val="104000"/>
              </a:lnSpc>
              <a:buNone/>
            </a:pPr>
            <a:r>
              <a:rPr lang="en-US" sz="4600" b="1" dirty="0">
                <a:solidFill>
                  <a:srgbClr val="000000"/>
                </a:solidFill>
                <a:latin typeface="Noto Color Emoji" pitchFamily="34" charset="0"/>
                <a:ea typeface="Noto Color Emoji" pitchFamily="34" charset="-122"/>
                <a:cs typeface="Noto Color Emoji" pitchFamily="34" charset="-120"/>
              </a:rPr>
              <a:t>⭐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61475" y="2116435"/>
            <a:ext cx="5160536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DISSEMINATION: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661475" y="2697857"/>
            <a:ext cx="5160536" cy="26741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55600" indent="-355600">
              <a:lnSpc>
                <a:spcPct val="1300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Modular Python-based implementation</a:t>
            </a:r>
            <a:endParaRPr lang="en-US" sz="1750" dirty="0"/>
          </a:p>
          <a:p>
            <a:pPr algn="l" marL="355600" indent="-355600">
              <a:lnSpc>
                <a:spcPct val="1300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Individual DSA components can be reused and extended</a:t>
            </a:r>
            <a:endParaRPr lang="en-US" sz="1750" dirty="0"/>
          </a:p>
          <a:p>
            <a:pPr algn="l" marL="355600" indent="-355600">
              <a:lnSpc>
                <a:spcPct val="1300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Suitable for academic demonstration and future system integration</a:t>
            </a:r>
            <a:endParaRPr lang="en-US" sz="1750" dirty="0"/>
          </a:p>
          <a:p>
            <a:pPr algn="l" marL="355600" indent="-355600">
              <a:lnSpc>
                <a:spcPct val="1300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 be extended into web-based recruiter interface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6376034" y="2116435"/>
            <a:ext cx="5160536" cy="3682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ACCESSIBILITY: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6376034" y="2697857"/>
            <a:ext cx="5160536" cy="2324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55600" indent="-355600">
              <a:lnSpc>
                <a:spcPct val="1300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Simple resume input and automated processing</a:t>
            </a:r>
            <a:endParaRPr lang="en-US" sz="1750" dirty="0"/>
          </a:p>
          <a:p>
            <a:pPr algn="l" marL="355600" indent="-355600">
              <a:lnSpc>
                <a:spcPct val="1300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Matching scores and explanations clearly presented</a:t>
            </a:r>
            <a:endParaRPr lang="en-US" sz="1750" dirty="0"/>
          </a:p>
          <a:p>
            <a:pPr algn="l" marL="355600" indent="-355600">
              <a:lnSpc>
                <a:spcPct val="1300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 can be reviewed by recruiters</a:t>
            </a:r>
            <a:endParaRPr lang="en-US" sz="1750" dirty="0"/>
          </a:p>
          <a:p>
            <a:pPr algn="l" marL="355600" indent="-355600">
              <a:lnSpc>
                <a:spcPct val="130000"/>
              </a:lnSpc>
              <a:buSzPct val="100000"/>
              <a:buChar char="•"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acts as decision-support tool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661475" y="5686425"/>
            <a:ext cx="11478330" cy="3500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hiring decisions remain with human recruiters.</a:t>
            </a:r>
            <a:endParaRPr lang="en-US" sz="1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0434"/>
            <a:ext cx="10868745" cy="77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ALGORITHM SELECTION</a:t>
            </a:r>
            <a:endParaRPr lang="en-US" sz="4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1475" y="2018109"/>
          <a:ext cx="10868745" cy="914400"/>
        </p:xfrm>
        <a:graphic>
          <a:graphicData uri="http://schemas.openxmlformats.org/drawingml/2006/table">
            <a:tbl>
              <a:tblPr/>
              <a:tblGrid>
                <a:gridCol w="3586682"/>
                <a:gridCol w="3695381"/>
                <a:gridCol w="3586682"/>
              </a:tblGrid>
              <a:tr h="6739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Algorithm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Purpose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Complexity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6739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KMP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Exact skill matching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O(n+m)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6739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Rabin-Karp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Duplicate detection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O(n+m) expected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6739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Edit Distance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Fuzzy matching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O(nm)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  <a:tr h="6739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Sorting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Candidate ranking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O(R log R)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FFFFFF">
                        <a:alpha val="4000"/>
                      </a:srgbClr>
                    </a:solidFill>
                  </a:tcPr>
                </a:tc>
              </a:tr>
              <a:tr h="67397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bipartite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Candidate-job assignment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50" dirty="0">
                          <a:solidFill>
                            <a:srgbClr val="272525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O(VE²)</a:t>
                      </a:r>
                      <a:endParaRPr lang="en-US" sz="185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236273" marR="236273" marT="6350" marB="6350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  <a:solidFill>
                      <a:srgbClr val="000000">
                        <a:alpha val="4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5304"/>
            <a:ext cx="10868745" cy="65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KMP: EXACT SKILL MATCHING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661475" y="1412478"/>
            <a:ext cx="10868745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it works:</a:t>
            </a:r>
            <a:endParaRPr lang="en-US" sz="2050" dirty="0"/>
          </a:p>
        </p:txBody>
      </p:sp>
      <p:sp>
        <p:nvSpPr>
          <p:cNvPr id="4" name="Text 2"/>
          <p:cNvSpPr/>
          <p:nvPr/>
        </p:nvSpPr>
        <p:spPr>
          <a:xfrm>
            <a:off x="661475" y="1997968"/>
            <a:ext cx="10868745" cy="101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LPS array for skill pattern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Search efficiently without unnecessary backtracking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Exact Match or No Match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3200896"/>
            <a:ext cx="10868745" cy="1275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500"/>
              </a:spcAft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Example: Python → Exact Match</a:t>
            </a:r>
            <a:endParaRPr lang="en-US" sz="1550" dirty="0"/>
          </a:p>
          <a:p>
            <a:pPr algn="l" indent="0" marL="0">
              <a:lnSpc>
                <a:spcPct val="123000"/>
              </a:lnSpc>
              <a:spcAft>
                <a:spcPts val="1500"/>
              </a:spcAft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Complexity: O(n+m)</a:t>
            </a:r>
            <a:endParaRPr lang="en-US" sz="15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Flow:</a:t>
            </a:r>
            <a:endParaRPr lang="en-US" sz="15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4668341"/>
            <a:ext cx="3622882" cy="80327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62289" y="5642273"/>
            <a:ext cx="3221255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Build LPS</a:t>
            </a:r>
            <a:endParaRPr lang="en-US" sz="20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4357" y="4668341"/>
            <a:ext cx="3622882" cy="803275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485171" y="5642273"/>
            <a:ext cx="3221255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Search Resume</a:t>
            </a:r>
            <a:endParaRPr lang="en-US" sz="20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7239" y="4668341"/>
            <a:ext cx="3622882" cy="80327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108053" y="5642273"/>
            <a:ext cx="3221255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Match Result</a:t>
            </a:r>
            <a:endParaRPr lang="en-US" sz="2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777875"/>
            <a:ext cx="10868745" cy="69770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RABIN-KARP: DUPLICATE DETECTION</a:t>
            </a:r>
            <a:endParaRPr lang="en-US" sz="4350" dirty="0"/>
          </a:p>
        </p:txBody>
      </p:sp>
      <p:sp>
        <p:nvSpPr>
          <p:cNvPr id="3" name="Shape 1"/>
          <p:cNvSpPr/>
          <p:nvPr/>
        </p:nvSpPr>
        <p:spPr>
          <a:xfrm>
            <a:off x="661475" y="1858268"/>
            <a:ext cx="478421" cy="478433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12700">
            <a:solidFill>
              <a:srgbClr val="B2D4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3258" y="1888182"/>
            <a:ext cx="334855" cy="4186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331185" y="1931293"/>
            <a:ext cx="464500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Normalize resume text</a:t>
            </a:r>
            <a:endParaRPr lang="en-US" sz="2150" dirty="0"/>
          </a:p>
        </p:txBody>
      </p:sp>
      <p:sp>
        <p:nvSpPr>
          <p:cNvPr id="6" name="Shape 4"/>
          <p:cNvSpPr/>
          <p:nvPr/>
        </p:nvSpPr>
        <p:spPr>
          <a:xfrm>
            <a:off x="6215403" y="1858268"/>
            <a:ext cx="478421" cy="478433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12700">
            <a:solidFill>
              <a:srgbClr val="B2D4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87186" y="1888182"/>
            <a:ext cx="334855" cy="4186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6885113" y="1931293"/>
            <a:ext cx="464510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Calculate rolling hash</a:t>
            </a:r>
            <a:endParaRPr lang="en-US" sz="2150" dirty="0"/>
          </a:p>
        </p:txBody>
      </p:sp>
      <p:sp>
        <p:nvSpPr>
          <p:cNvPr id="9" name="Shape 7"/>
          <p:cNvSpPr/>
          <p:nvPr/>
        </p:nvSpPr>
        <p:spPr>
          <a:xfrm>
            <a:off x="661475" y="2719388"/>
            <a:ext cx="478421" cy="478433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12700">
            <a:solidFill>
              <a:srgbClr val="B2D4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3258" y="2749302"/>
            <a:ext cx="334855" cy="4186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331185" y="2792413"/>
            <a:ext cx="4645008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Compare hash values</a:t>
            </a:r>
            <a:endParaRPr lang="en-US" sz="2150" dirty="0"/>
          </a:p>
        </p:txBody>
      </p:sp>
      <p:sp>
        <p:nvSpPr>
          <p:cNvPr id="12" name="Shape 10"/>
          <p:cNvSpPr/>
          <p:nvPr/>
        </p:nvSpPr>
        <p:spPr>
          <a:xfrm>
            <a:off x="6215403" y="2719388"/>
            <a:ext cx="478421" cy="478433"/>
          </a:xfrm>
          <a:prstGeom prst="roundRect">
            <a:avLst>
              <a:gd name="adj" fmla="val 18668"/>
            </a:avLst>
          </a:prstGeom>
          <a:solidFill>
            <a:srgbClr val="CCEEFF"/>
          </a:solidFill>
          <a:ln w="12700">
            <a:solidFill>
              <a:srgbClr val="B2D4E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287186" y="2749302"/>
            <a:ext cx="334855" cy="41860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885113" y="2792413"/>
            <a:ext cx="4645107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272525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Verify and flag duplicate</a:t>
            </a:r>
            <a:endParaRPr lang="en-US" sz="2150" dirty="0"/>
          </a:p>
        </p:txBody>
      </p:sp>
      <p:sp>
        <p:nvSpPr>
          <p:cNvPr id="15" name="Text 13"/>
          <p:cNvSpPr/>
          <p:nvPr/>
        </p:nvSpPr>
        <p:spPr>
          <a:xfrm>
            <a:off x="661475" y="3484860"/>
            <a:ext cx="108687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Complexity:</a:t>
            </a:r>
            <a:endParaRPr lang="en-US" sz="2150" dirty="0"/>
          </a:p>
        </p:txBody>
      </p:sp>
      <p:sp>
        <p:nvSpPr>
          <p:cNvPr id="16" name="Text 14"/>
          <p:cNvSpPr/>
          <p:nvPr/>
        </p:nvSpPr>
        <p:spPr>
          <a:xfrm>
            <a:off x="661475" y="4120753"/>
            <a:ext cx="10868745" cy="7132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35280" indent="-335280">
              <a:lnSpc>
                <a:spcPct val="1270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Expected: O(n+m)</a:t>
            </a:r>
            <a:endParaRPr lang="en-US" sz="1650" dirty="0"/>
          </a:p>
          <a:p>
            <a:pPr algn="l" marL="335280" indent="-335280">
              <a:lnSpc>
                <a:spcPct val="127000"/>
              </a:lnSpc>
              <a:buSzPct val="100000"/>
              <a:buChar char="•"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Worst case: O(nm)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661475" y="5121077"/>
            <a:ext cx="10868745" cy="34885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ACTUAL IMPLEMENTATION OUTPUT:</a:t>
            </a:r>
            <a:endParaRPr lang="en-US" sz="2150" dirty="0"/>
          </a:p>
        </p:txBody>
      </p:sp>
      <p:sp>
        <p:nvSpPr>
          <p:cNvPr id="18" name="Text 16"/>
          <p:cNvSpPr/>
          <p:nvPr/>
        </p:nvSpPr>
        <p:spPr>
          <a:xfrm>
            <a:off x="661475" y="5756970"/>
            <a:ext cx="11478330" cy="3231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7000"/>
              </a:lnSpc>
              <a:buNone/>
            </a:pPr>
            <a:r>
              <a:rPr lang="en-US" sz="1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resume4_duplicate.txt → DUPLICATE of resume1.txt</a:t>
            </a:r>
            <a:endParaRPr lang="en-US" sz="1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410395"/>
            <a:ext cx="10868745" cy="6589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1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EDIT DISTANCE: FUZZY SKILL MATCHING</a:t>
            </a:r>
            <a:endParaRPr lang="en-US" sz="4150" dirty="0"/>
          </a:p>
        </p:txBody>
      </p:sp>
      <p:sp>
        <p:nvSpPr>
          <p:cNvPr id="3" name="Text 1"/>
          <p:cNvSpPr/>
          <p:nvPr/>
        </p:nvSpPr>
        <p:spPr>
          <a:xfrm>
            <a:off x="661475" y="2495947"/>
            <a:ext cx="5416514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it works:</a:t>
            </a:r>
            <a:endParaRPr lang="en-US" sz="3300" dirty="0"/>
          </a:p>
        </p:txBody>
      </p:sp>
      <p:sp>
        <p:nvSpPr>
          <p:cNvPr id="4" name="Text 2"/>
          <p:cNvSpPr/>
          <p:nvPr/>
        </p:nvSpPr>
        <p:spPr>
          <a:xfrm>
            <a:off x="661475" y="3193752"/>
            <a:ext cx="5416514" cy="10109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Wagner-Fischer Dynamic Programming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Insert, Delete, Substitute operations</a:t>
            </a:r>
            <a:endParaRPr lang="en-US" sz="1550" dirty="0"/>
          </a:p>
          <a:p>
            <a:pPr algn="l" marL="314960" indent="-314960">
              <a:lnSpc>
                <a:spcPct val="123000"/>
              </a:lnSpc>
              <a:buSzPct val="100000"/>
              <a:buChar char="•"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 near matches from spelling variations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661475" y="4375348"/>
            <a:ext cx="5416514" cy="3295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Complexity:</a:t>
            </a:r>
            <a:endParaRPr lang="en-US" sz="2050" dirty="0"/>
          </a:p>
        </p:txBody>
      </p:sp>
      <p:sp>
        <p:nvSpPr>
          <p:cNvPr id="6" name="Text 4"/>
          <p:cNvSpPr/>
          <p:nvPr/>
        </p:nvSpPr>
        <p:spPr>
          <a:xfrm>
            <a:off x="661475" y="4875510"/>
            <a:ext cx="6026098" cy="2971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O(nm)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29710" y="2325291"/>
            <a:ext cx="5251319" cy="3122216"/>
          </a:xfrm>
          <a:prstGeom prst="roundRect">
            <a:avLst>
              <a:gd name="adj" fmla="val 4631"/>
            </a:avLst>
          </a:prstGeom>
          <a:solidFill>
            <a:srgbClr val="000000">
              <a:alpha val="95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6630524" y="2495947"/>
            <a:ext cx="4849691" cy="5271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Actual Example: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6630524" y="3193752"/>
            <a:ext cx="4849691" cy="210016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Input: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"pythn"</a:t>
            </a:r>
            <a:endParaRPr lang="en-US" sz="15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Target: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"python"</a:t>
            </a:r>
            <a:endParaRPr lang="en-US" sz="15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Edit Distance: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1</a:t>
            </a:r>
            <a:endParaRPr lang="en-US" sz="1550" dirty="0"/>
          </a:p>
          <a:p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Similarity:</a:t>
            </a:r>
            <a:pPr algn="l" indent="0" marL="0">
              <a:lnSpc>
                <a:spcPct val="123000"/>
              </a:lnSpc>
              <a:spcAft>
                <a:spcPts val="1200"/>
              </a:spcAft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83.33%</a:t>
            </a:r>
            <a:endParaRPr lang="en-US" sz="1550" dirty="0"/>
          </a:p>
          <a:p>
            <a:pPr algn="l" indent="0" marL="0">
              <a:lnSpc>
                <a:spcPct val="1230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Result:</a:t>
            </a:r>
            <a:pPr algn="l" indent="0" marL="0">
              <a:lnSpc>
                <a:spcPct val="1230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CLOSE MATCH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830560"/>
            <a:ext cx="10868745" cy="7751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48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CANDIDATE-JOB ASSIGNMENT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661475" y="1700213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it works: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61475" y="2519759"/>
            <a:ext cx="10868745" cy="2220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Build candidate-job bipartite graph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Candidate-job edges represent compatibility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Capacity = 1 for each candidate and job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BFS finds augmenting paths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Maximum flow gives maximum feasible assignments</a:t>
            </a:r>
            <a:endParaRPr lang="en-US" sz="1850" dirty="0"/>
          </a:p>
        </p:txBody>
      </p:sp>
      <p:sp>
        <p:nvSpPr>
          <p:cNvPr id="5" name="Text 3"/>
          <p:cNvSpPr/>
          <p:nvPr/>
        </p:nvSpPr>
        <p:spPr>
          <a:xfrm>
            <a:off x="661475" y="5005784"/>
            <a:ext cx="10868745" cy="10216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2050"/>
              </a:spcAft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Complexity:</a:t>
            </a:r>
            <a:pPr algn="l" indent="0" marL="0">
              <a:lnSpc>
                <a:spcPct val="133000"/>
              </a:lnSpc>
              <a:spcAft>
                <a:spcPts val="2050"/>
              </a:spcAft>
              <a:buNone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O(VE²)</a:t>
            </a:r>
            <a:endParaRPr lang="en-US" sz="185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8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ACTUAL IMPLEMENTATION OUTPUT:</a:t>
            </a:r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Maximum feasible assignments: 3</a:t>
            </a:r>
            <a:endParaRPr lang="en-US" sz="1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6891"/>
            <a:ext cx="10868745" cy="6202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SORTING: CANDIDATE RANKING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661475" y="1367532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How it works:</a:t>
            </a:r>
            <a:endParaRPr lang="en-US" sz="3100" dirty="0"/>
          </a:p>
        </p:txBody>
      </p:sp>
      <p:sp>
        <p:nvSpPr>
          <p:cNvPr id="4" name="Text 2"/>
          <p:cNvSpPr/>
          <p:nvPr/>
        </p:nvSpPr>
        <p:spPr>
          <a:xfrm>
            <a:off x="661475" y="2090539"/>
            <a:ext cx="10868745" cy="9222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Combine exact and fuzzy skill matches into candidate score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candidates in descending order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Display transparent ranking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61475" y="3184640"/>
            <a:ext cx="11478330" cy="272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Complexity: </a:t>
            </a:r>
            <a:endParaRPr lang="en-US" sz="14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1475" y="3646289"/>
            <a:ext cx="10868745" cy="3277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61475" y="4200823"/>
            <a:ext cx="10868745" cy="4961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ACTUAL RESULTS:</a:t>
            </a:r>
            <a:endParaRPr lang="en-US" sz="3100" dirty="0"/>
          </a:p>
        </p:txBody>
      </p:sp>
      <p:sp>
        <p:nvSpPr>
          <p:cNvPr id="8" name="Text 5"/>
          <p:cNvSpPr/>
          <p:nvPr/>
        </p:nvSpPr>
        <p:spPr>
          <a:xfrm>
            <a:off x="661475" y="4923830"/>
            <a:ext cx="10868745" cy="1247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94640" indent="-294640">
              <a:lnSpc>
                <a:spcPct val="120000"/>
              </a:lnSpc>
              <a:buSzPct val="100000"/>
              <a:buFont typeface="+mj-lt"/>
              <a:buAutoNum type="arabicPeriod" startAt="1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resume1.txt → 100.00%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Font typeface="+mj-lt"/>
              <a:buAutoNum type="arabicPeriod" startAt="2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resume3.txt → 100.00%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Font typeface="+mj-lt"/>
              <a:buAutoNum type="arabicPeriod" startAt="3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resume5_fuzzy.txt → 96.67%</a:t>
            </a:r>
            <a:endParaRPr lang="en-US" sz="1450" dirty="0"/>
          </a:p>
          <a:p>
            <a:pPr algn="l" marL="294640" indent="-294640">
              <a:lnSpc>
                <a:spcPct val="120000"/>
              </a:lnSpc>
              <a:buSzPct val="100000"/>
              <a:buFont typeface="+mj-lt"/>
              <a:buAutoNum type="arabicPeriod" startAt="4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resume2.txt → 20.00%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1528167"/>
            <a:ext cx="10868745" cy="465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ACTUAL IMPLEMENTATION RESULTS: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2465784"/>
            <a:ext cx="10868745" cy="22202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resume1.txt → 100.00%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resume3.txt → 100.00%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resume5_fuzzy.txt → 96.67%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resume2.txt → 20.00%</a:t>
            </a:r>
            <a:endParaRPr lang="en-US" sz="1850" dirty="0"/>
          </a:p>
          <a:p>
            <a:pPr algn="l" marL="375920" indent="-375920">
              <a:lnSpc>
                <a:spcPct val="133000"/>
              </a:lnSpc>
              <a:buSzPct val="100000"/>
              <a:buChar char="•"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resume4_duplicate.txt → Duplicate detected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661475" y="4951809"/>
            <a:ext cx="11478330" cy="3779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Evaluation: Each selected DSA method performs its intended task in the integrated pipeline.</a:t>
            </a:r>
            <a:endParaRPr lang="en-US" sz="1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83915"/>
            <a:ext cx="10868745" cy="534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33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COMPLEXITY ANALYSIS &amp; CONCLUSION</a:t>
            </a:r>
            <a:endParaRPr lang="en-US" sz="3350" dirty="0"/>
          </a:p>
        </p:txBody>
      </p:sp>
      <p:sp>
        <p:nvSpPr>
          <p:cNvPr id="3" name="Text 1"/>
          <p:cNvSpPr/>
          <p:nvPr/>
        </p:nvSpPr>
        <p:spPr>
          <a:xfrm>
            <a:off x="661475" y="1262856"/>
            <a:ext cx="10868745" cy="42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Algorithm Complexity Summary:</a:t>
            </a:r>
            <a:endParaRPr lang="en-US" sz="2650" dirty="0"/>
          </a:p>
        </p:txBody>
      </p:sp>
      <p:sp>
        <p:nvSpPr>
          <p:cNvPr id="4" name="Text 2"/>
          <p:cNvSpPr/>
          <p:nvPr/>
        </p:nvSpPr>
        <p:spPr>
          <a:xfrm>
            <a:off x="661475" y="1858466"/>
            <a:ext cx="10868745" cy="12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KMP → O(n+m)</a:t>
            </a:r>
            <a:endParaRPr lang="en-US" sz="1250" dirty="0"/>
          </a:p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Rabin-Karp → O(n+m) expected</a:t>
            </a:r>
            <a:endParaRPr lang="en-US" sz="1250" dirty="0"/>
          </a:p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Edit Distance → O(nm)</a:t>
            </a:r>
            <a:endParaRPr lang="en-US" sz="1250" dirty="0"/>
          </a:p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Sorting → O(R log R)</a:t>
            </a:r>
            <a:endParaRPr lang="en-US" sz="1250" dirty="0"/>
          </a:p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Edmonds-Karp → O(VE²)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61475" y="3283347"/>
            <a:ext cx="10868745" cy="4273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650" b="1" dirty="0">
                <a:solidFill>
                  <a:srgbClr val="000000"/>
                </a:solidFill>
                <a:latin typeface="Petrona Bold" pitchFamily="34" charset="0"/>
                <a:ea typeface="Petrona Bold" pitchFamily="34" charset="-122"/>
                <a:cs typeface="Petrona Bold" pitchFamily="34" charset="-120"/>
              </a:rPr>
              <a:t>CONCLUSION:</a:t>
            </a:r>
            <a:endParaRPr lang="en-US" sz="2650" dirty="0"/>
          </a:p>
        </p:txBody>
      </p:sp>
      <p:sp>
        <p:nvSpPr>
          <p:cNvPr id="6" name="Text 4"/>
          <p:cNvSpPr/>
          <p:nvPr/>
        </p:nvSpPr>
        <p:spPr>
          <a:xfrm>
            <a:off x="661475" y="3878957"/>
            <a:ext cx="10868745" cy="5661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3000"/>
              </a:lnSpc>
              <a:spcAft>
                <a:spcPts val="950"/>
              </a:spcAft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implementation integrates five DSA techniques into one explainable resume-screening workflow.</a:t>
            </a:r>
            <a:endParaRPr lang="en-US" sz="125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system demonstrates: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61475" y="4571305"/>
            <a:ext cx="10868745" cy="12566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Exact matching (KMP)</a:t>
            </a:r>
            <a:endParaRPr lang="en-US" sz="1250" dirty="0"/>
          </a:p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Fuzzy matching (Edit Distance)</a:t>
            </a:r>
            <a:endParaRPr lang="en-US" sz="1250" dirty="0"/>
          </a:p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Duplicate detection (Rabin-Karp)</a:t>
            </a:r>
            <a:endParaRPr lang="en-US" sz="1250" dirty="0"/>
          </a:p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Ranking (Sorting)</a:t>
            </a:r>
            <a:endParaRPr lang="en-US" sz="1250" dirty="0"/>
          </a:p>
          <a:p>
            <a:pPr algn="l" marL="254000" indent="-254000">
              <a:lnSpc>
                <a:spcPct val="113000"/>
              </a:lnSpc>
              <a:buSzPct val="100000"/>
              <a:buChar char="•"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Candidate-job assignment (Edmonds-Karp)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61475" y="5959443"/>
            <a:ext cx="11478330" cy="2199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Final hiring decisions remain with human recruiters.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2026-10-08T00:20:31Z</dcterms:created>
  <dcterms:modified xsi:type="dcterms:W3CDTF">2026-10-08T00:20:31Z</dcterms:modified>
</cp:coreProperties>
</file>